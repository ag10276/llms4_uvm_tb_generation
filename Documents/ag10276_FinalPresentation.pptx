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ggymUVtxEt77rSwwu8juhnTjmI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94CABA-E51B-465C-B92F-6FEB43748C18}">
  <a:tblStyle styleId="{2994CABA-E51B-465C-B92F-6FEB43748C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9aa10bbaea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9aa10bbaea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9aa10bbaea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aa10bbaea_0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9aa10bbaea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9aa10bbaea_0_2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aa10bbaea_0_10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aa10bbaea_0_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aa10bbaea_0_109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aa10bbaea_0_10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aa10bbaea_0_122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aa10bbaea_0_1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aa10bbaea_0_131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aa10bbaea_0_13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aa10bbaea_0_139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aa10bbaea_0_13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aa10bbaea_0_146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aa10bbaea_0_14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aa10bbaea_0_155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aa10bbaea_0_15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aa10bbaea_0_162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aa10bbaea_0_16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aa10bbaea_0_169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9aa10bbaea_0_16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aa09eebd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9aa09eebd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9aa09eebd5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aa09eebd5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9aa09eebd5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9aa09eebd5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aa10bbaea_0_10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3" name="Google Shape;13;g39aa10bbaea_0_10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4" name="Google Shape;14;g39aa10bbaea_0_1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914400" y="1599475"/>
            <a:ext cx="100584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Georgia"/>
              <a:buNone/>
            </a:pPr>
            <a:r>
              <a:rPr b="1" i="1" lang="en-US" sz="5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Using LLMs for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14400" y="2363287"/>
            <a:ext cx="103326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i="0" lang="en-US" sz="3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UVM Testbench Generation</a:t>
            </a:r>
            <a:endParaRPr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14400" y="52120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Archie Gupta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i="0" lang="en-US" sz="1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Net ID: ag10276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i="0" lang="en-US" sz="11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i="1" lang="en-US" sz="17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ECE 9953  ·  Spring 2026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i="1" lang="en-US" sz="17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NYU Tandon School of Engineering </a:t>
            </a:r>
            <a:endParaRPr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Problem Definition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520120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UVM </a:t>
            </a:r>
            <a:r>
              <a:rPr b="1" lang="en-US" sz="22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r>
              <a:rPr b="1" i="0" lang="en-US" sz="2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erification is one of the </a:t>
            </a:r>
            <a:r>
              <a:rPr b="1" lang="en-US" sz="22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most</a:t>
            </a:r>
            <a:r>
              <a:rPr b="1" i="0" lang="en-US" sz="2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important </a:t>
            </a:r>
            <a:r>
              <a:rPr b="1" lang="en-US" sz="22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steps</a:t>
            </a:r>
            <a:r>
              <a:rPr b="1" lang="en-US" sz="22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in hardware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75" y="2286000"/>
            <a:ext cx="5486400" cy="3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modern SoC verification environment uses </a:t>
            </a: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Universal Verification Methodology (UVM)</a:t>
            </a: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a SystemVerilog class library for building reusable, layered testbenches.</a:t>
            </a:r>
            <a:endParaRPr b="0" i="0" sz="16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UVM is a framework of SystemVerilog classes from which fully functional testbenches can be built.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primary advantage is that the methodology specifies and lays out a set of guidelines to be followed for creation of verification testbenches. 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This will ensure testbench uniformity between different verification teams, cross-compatibility between IP and standalone environment integration, flexibility and ease of maintaining testbenches.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583675" y="1645925"/>
            <a:ext cx="5120700" cy="42906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2A6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583680" y="1645925"/>
            <a:ext cx="73200" cy="4290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is the motivation behind UVM </a:t>
            </a:r>
            <a:r>
              <a:rPr b="1" lang="en-US" sz="18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Testbenches</a:t>
            </a: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0" y="2286000"/>
            <a:ext cx="46635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UVM testbench is built in layers, not as one large block of code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Each layer has a clear responsibility, which makes the testbench easier to understand and maintain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t/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structure separates: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to test (test and sequences)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to drive signals (driver)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actually happened (monitor)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Is the behavior correct (scoreboard)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much is tested (functional coverage)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t/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This separation allows reuse of components across different designs</a:t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t/>
            </a:r>
            <a:endParaRPr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a10bbaea_0_237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9aa10bbaea_0_237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9aa10bbaea_0_237"/>
          <p:cNvSpPr/>
          <p:nvPr/>
        </p:nvSpPr>
        <p:spPr>
          <a:xfrm>
            <a:off x="513963" y="1447338"/>
            <a:ext cx="11438100" cy="1323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9aa10bbaea_0_237"/>
          <p:cNvSpPr/>
          <p:nvPr/>
        </p:nvSpPr>
        <p:spPr>
          <a:xfrm>
            <a:off x="750350" y="1222000"/>
            <a:ext cx="110031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i="1"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60–70% of ASIC project effort is spent in verification.</a:t>
            </a:r>
            <a:endParaRPr i="1"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i="1"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The time and effort needed to build the UVM testbench is large.</a:t>
            </a:r>
            <a:endParaRPr i="1" sz="2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g39aa10bbaea_0_237"/>
          <p:cNvSpPr txBox="1"/>
          <p:nvPr/>
        </p:nvSpPr>
        <p:spPr>
          <a:xfrm>
            <a:off x="635775" y="3005200"/>
            <a:ext cx="111945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Calibri"/>
                <a:ea typeface="Calibri"/>
                <a:cs typeface="Calibri"/>
                <a:sym typeface="Calibri"/>
              </a:rPr>
              <a:t>Targeted areas of the UVM flow: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Calibri"/>
              <a:buChar char="●"/>
            </a:pPr>
            <a:r>
              <a:rPr lang="en-US" sz="2900">
                <a:latin typeface="Calibri"/>
                <a:ea typeface="Calibri"/>
                <a:cs typeface="Calibri"/>
                <a:sym typeface="Calibri"/>
              </a:rPr>
              <a:t>Spec → UVM Skeleton: agents, interfaces, transactions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Calibri"/>
              <a:buChar char="●"/>
            </a:pPr>
            <a:r>
              <a:rPr lang="en-US" sz="2900">
                <a:latin typeface="Calibri"/>
                <a:ea typeface="Calibri"/>
                <a:cs typeface="Calibri"/>
                <a:sym typeface="Calibri"/>
              </a:rPr>
              <a:t>Transaction &amp; Sequence Generation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Calibri"/>
              <a:buChar char="●"/>
            </a:pPr>
            <a:r>
              <a:rPr lang="en-US" sz="2900">
                <a:latin typeface="Calibri"/>
                <a:ea typeface="Calibri"/>
                <a:cs typeface="Calibri"/>
                <a:sym typeface="Calibri"/>
              </a:rPr>
              <a:t>Driver / Monitor Generation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Calibri"/>
              <a:buChar char="●"/>
            </a:pPr>
            <a:r>
              <a:rPr lang="en-US" sz="2900">
                <a:latin typeface="Calibri"/>
                <a:ea typeface="Calibri"/>
                <a:cs typeface="Calibri"/>
                <a:sym typeface="Calibri"/>
              </a:rPr>
              <a:t>Assertions &amp; Functional Coverage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Calibri"/>
              <a:buChar char="●"/>
            </a:pPr>
            <a:r>
              <a:rPr lang="en-US" sz="2900">
                <a:latin typeface="Calibri"/>
                <a:ea typeface="Calibri"/>
                <a:cs typeface="Calibri"/>
                <a:sym typeface="Calibri"/>
              </a:rPr>
              <a:t>Debug &amp; Iteration Support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a10bbaea_0_246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9aa10bbaea_0_246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Motivation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9aa10bbaea_0_246"/>
          <p:cNvSpPr/>
          <p:nvPr/>
        </p:nvSpPr>
        <p:spPr>
          <a:xfrm>
            <a:off x="648725" y="3092400"/>
            <a:ext cx="11168700" cy="35391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aa10bbaea_0_246"/>
          <p:cNvSpPr/>
          <p:nvPr/>
        </p:nvSpPr>
        <p:spPr>
          <a:xfrm>
            <a:off x="877330" y="3271414"/>
            <a:ext cx="10515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The opportunity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a10bbaea_0_246"/>
          <p:cNvSpPr/>
          <p:nvPr/>
        </p:nvSpPr>
        <p:spPr>
          <a:xfrm>
            <a:off x="877325" y="4045071"/>
            <a:ext cx="105156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LLMs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are strong at </a:t>
            </a:r>
            <a:endParaRPr b="0" i="0" sz="1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onverting structured specifications into structured code</a:t>
            </a:r>
            <a:endParaRPr b="0" i="0" sz="1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ecognizing repeated boilerplate patterns. </a:t>
            </a:r>
            <a:endParaRPr b="0" i="0" sz="1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sz="18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Evaluate LLM generated TBs </a:t>
            </a: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 below </a:t>
            </a: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coverage closure </a:t>
            </a:r>
            <a:endParaRPr b="0" i="0" sz="1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assertion firing</a:t>
            </a:r>
            <a:endParaRPr b="0" i="0" sz="1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protocol-aware corner cases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aa10bbaea_0_246"/>
          <p:cNvSpPr/>
          <p:nvPr/>
        </p:nvSpPr>
        <p:spPr>
          <a:xfrm>
            <a:off x="648725" y="1232500"/>
            <a:ext cx="11168700" cy="15546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9aa10bbaea_0_246"/>
          <p:cNvSpPr/>
          <p:nvPr/>
        </p:nvSpPr>
        <p:spPr>
          <a:xfrm>
            <a:off x="877325" y="1369675"/>
            <a:ext cx="10803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5600"/>
              <a:buFont typeface="Georgia"/>
              <a:buNone/>
            </a:pPr>
            <a:r>
              <a:rPr b="1" lang="en-US" sz="24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Using LLMs for Initial TB Generation to focus human effort </a:t>
            </a:r>
            <a:endParaRPr b="1" sz="2400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5600"/>
              <a:buFont typeface="Georgia"/>
              <a:buNone/>
            </a:pPr>
            <a:r>
              <a:rPr b="1" lang="en-US" sz="24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on</a:t>
            </a:r>
            <a:endParaRPr b="1" sz="2400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5600"/>
              <a:buFont typeface="Georgia"/>
              <a:buNone/>
            </a:pPr>
            <a:r>
              <a:rPr b="1" lang="en-US" sz="24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Complex Targeted Testing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Framework: Standard UVM Testbench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040880" y="1691640"/>
            <a:ext cx="4572000" cy="475488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040880" y="1691640"/>
            <a:ext cx="73152" cy="47548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269480" y="17830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Layered</a:t>
            </a:r>
            <a:r>
              <a:rPr b="1" lang="en-US" sz="1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and</a:t>
            </a: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16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eusable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269480" y="2240280"/>
            <a:ext cx="42976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Sequences generate high-level transactions (not signals)</a:t>
            </a:r>
            <a:endParaRPr b="1" i="0" sz="15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sequencer controls the order and flow of these transactions</a:t>
            </a:r>
            <a:endParaRPr b="1" i="0" sz="15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driver converts transactions into signal-level activity on the DUT interface</a:t>
            </a:r>
            <a:endParaRPr b="1" i="0" sz="15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interface defines how signals are driven and sampled</a:t>
            </a:r>
            <a:endParaRPr b="1" i="0" sz="15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This flow allows stimulus to change without modifying low-level signal code</a:t>
            </a:r>
            <a:endParaRPr b="1" i="0" sz="15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monitor passively observes DUT signals and reconstructs transactions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Observed transactions are sent to the scoreboard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scoreboard compares actual behavior against expected behavior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Char char="-"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Functional coverage tracks which states, transitions, and cases have been exercised</a:t>
            </a:r>
            <a:endParaRPr b="1" sz="15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000" y="2158600"/>
            <a:ext cx="4614008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Framework: LLM-Assisted TB Generation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82166" y="1639305"/>
            <a:ext cx="2103000" cy="10059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8" name="Google Shape;78;p6"/>
          <p:cNvSpPr/>
          <p:nvPr/>
        </p:nvSpPr>
        <p:spPr>
          <a:xfrm>
            <a:off x="582166" y="1730745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RTL/Specification  Input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82166" y="2096505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design.sv / txt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2685286" y="2105649"/>
            <a:ext cx="128100" cy="73200"/>
          </a:xfrm>
          <a:prstGeom prst="rect">
            <a:avLst/>
          </a:prstGeom>
          <a:solidFill>
            <a:srgbClr val="5A6478"/>
          </a:solidFill>
          <a:ln cap="flat" cmpd="sng" w="12700">
            <a:solidFill>
              <a:srgbClr val="5A6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" name="Google Shape;81;p6"/>
          <p:cNvSpPr/>
          <p:nvPr/>
        </p:nvSpPr>
        <p:spPr>
          <a:xfrm>
            <a:off x="2813302" y="1639305"/>
            <a:ext cx="2103000" cy="1005900"/>
          </a:xfrm>
          <a:prstGeom prst="rect">
            <a:avLst/>
          </a:prstGeom>
          <a:solidFill>
            <a:srgbClr val="2A6FB8"/>
          </a:solidFill>
          <a:ln cap="flat" cmpd="sng" w="12700">
            <a:solidFill>
              <a:srgbClr val="2A6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" name="Google Shape;82;p6"/>
          <p:cNvSpPr/>
          <p:nvPr/>
        </p:nvSpPr>
        <p:spPr>
          <a:xfrm>
            <a:off x="2813302" y="1730745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Builder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813302" y="2096505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structured spec + UVM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section contract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916422" y="2105649"/>
            <a:ext cx="128100" cy="73200"/>
          </a:xfrm>
          <a:prstGeom prst="rect">
            <a:avLst/>
          </a:prstGeom>
          <a:solidFill>
            <a:srgbClr val="5A6478"/>
          </a:solidFill>
          <a:ln cap="flat" cmpd="sng" w="12700">
            <a:solidFill>
              <a:srgbClr val="5A6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5" name="Google Shape;85;p6"/>
          <p:cNvSpPr/>
          <p:nvPr/>
        </p:nvSpPr>
        <p:spPr>
          <a:xfrm>
            <a:off x="5044438" y="1639305"/>
            <a:ext cx="2103000" cy="10059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6" name="Google Shape;86;p6"/>
          <p:cNvSpPr/>
          <p:nvPr/>
        </p:nvSpPr>
        <p:spPr>
          <a:xfrm>
            <a:off x="5044438" y="1730745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API Call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044438" y="2096505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o4-mini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Gemini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Claude Opus 4.6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147558" y="2105649"/>
            <a:ext cx="128100" cy="73200"/>
          </a:xfrm>
          <a:prstGeom prst="rect">
            <a:avLst/>
          </a:prstGeom>
          <a:solidFill>
            <a:srgbClr val="5A6478"/>
          </a:solidFill>
          <a:ln cap="flat" cmpd="sng" w="12700">
            <a:solidFill>
              <a:srgbClr val="5A6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" name="Google Shape;89;p6"/>
          <p:cNvSpPr/>
          <p:nvPr/>
        </p:nvSpPr>
        <p:spPr>
          <a:xfrm>
            <a:off x="7275574" y="1639305"/>
            <a:ext cx="2103000" cy="1005900"/>
          </a:xfrm>
          <a:prstGeom prst="rect">
            <a:avLst/>
          </a:prstGeom>
          <a:solidFill>
            <a:srgbClr val="2A6FB8"/>
          </a:solidFill>
          <a:ln cap="flat" cmpd="sng" w="12700">
            <a:solidFill>
              <a:srgbClr val="2A6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0" name="Google Shape;90;p6"/>
          <p:cNvSpPr/>
          <p:nvPr/>
        </p:nvSpPr>
        <p:spPr>
          <a:xfrm>
            <a:off x="7275574" y="1730745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Parser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275574" y="2096505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split into 11 UVM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files, validate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9378694" y="2105649"/>
            <a:ext cx="128100" cy="73200"/>
          </a:xfrm>
          <a:prstGeom prst="rect">
            <a:avLst/>
          </a:prstGeom>
          <a:solidFill>
            <a:srgbClr val="5A6478"/>
          </a:solidFill>
          <a:ln cap="flat" cmpd="sng" w="12700">
            <a:solidFill>
              <a:srgbClr val="5A6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3" name="Google Shape;93;p6"/>
          <p:cNvSpPr/>
          <p:nvPr/>
        </p:nvSpPr>
        <p:spPr>
          <a:xfrm>
            <a:off x="9506710" y="1639305"/>
            <a:ext cx="2103000" cy="10059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4" name="Google Shape;94;p6"/>
          <p:cNvSpPr/>
          <p:nvPr/>
        </p:nvSpPr>
        <p:spPr>
          <a:xfrm>
            <a:off x="9506710" y="1730745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Generated TB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506710" y="2096505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*_uvm_tb_all.sv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onsolas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+ supporting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40230" y="2873745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1" lang="en-US" sz="17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All four LLM outputs and the hand-written TB run through the same VCS pipeline: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4150" y="3376665"/>
            <a:ext cx="2697600" cy="16917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" name="Google Shape;98;p6"/>
          <p:cNvSpPr/>
          <p:nvPr/>
        </p:nvSpPr>
        <p:spPr>
          <a:xfrm>
            <a:off x="454150" y="3376665"/>
            <a:ext cx="2697600" cy="109800"/>
          </a:xfrm>
          <a:prstGeom prst="rect">
            <a:avLst/>
          </a:prstGeom>
          <a:solidFill>
            <a:srgbClr val="2A6FB8"/>
          </a:solidFill>
          <a:ln cap="flat" cmpd="sng" w="12700">
            <a:solidFill>
              <a:srgbClr val="2A6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" name="Google Shape;99;p6"/>
          <p:cNvSpPr/>
          <p:nvPr/>
        </p:nvSpPr>
        <p:spPr>
          <a:xfrm>
            <a:off x="591310" y="3605265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Structural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91310" y="4153905"/>
            <a:ext cx="2423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Did the LLM produce all 11 required UVM sections?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316222" y="3376665"/>
            <a:ext cx="2697600" cy="16917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" name="Google Shape;102;p6"/>
          <p:cNvSpPr/>
          <p:nvPr/>
        </p:nvSpPr>
        <p:spPr>
          <a:xfrm>
            <a:off x="3316222" y="3376665"/>
            <a:ext cx="2697600" cy="109800"/>
          </a:xfrm>
          <a:prstGeom prst="rect">
            <a:avLst/>
          </a:prstGeom>
          <a:solidFill>
            <a:srgbClr val="2A6FB8"/>
          </a:solidFill>
          <a:ln cap="flat" cmpd="sng" w="12700">
            <a:solidFill>
              <a:srgbClr val="2A6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6"/>
          <p:cNvSpPr/>
          <p:nvPr/>
        </p:nvSpPr>
        <p:spPr>
          <a:xfrm>
            <a:off x="3453382" y="3605265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Compile + Run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453382" y="4153905"/>
            <a:ext cx="2423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Does it elaborate and simulate cleanly without manual fixes?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178294" y="3376665"/>
            <a:ext cx="2697600" cy="16917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6"/>
          <p:cNvSpPr/>
          <p:nvPr/>
        </p:nvSpPr>
        <p:spPr>
          <a:xfrm>
            <a:off x="6178294" y="3376665"/>
            <a:ext cx="2697600" cy="109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" name="Google Shape;107;p6"/>
          <p:cNvSpPr/>
          <p:nvPr/>
        </p:nvSpPr>
        <p:spPr>
          <a:xfrm>
            <a:off x="6315454" y="3605265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Functional Coverage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315454" y="4153905"/>
            <a:ext cx="2423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 covergroups and crosses reach closure on declared bins?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9040366" y="3376665"/>
            <a:ext cx="2697600" cy="16917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6"/>
          <p:cNvSpPr/>
          <p:nvPr/>
        </p:nvSpPr>
        <p:spPr>
          <a:xfrm>
            <a:off x="9040366" y="3376665"/>
            <a:ext cx="2697600" cy="109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6"/>
          <p:cNvSpPr/>
          <p:nvPr/>
        </p:nvSpPr>
        <p:spPr>
          <a:xfrm>
            <a:off x="9177526" y="3605265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Assertion Coverage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9177526" y="4153905"/>
            <a:ext cx="2423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Are bound SVAs and cover properties exercised by stimulus?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350" y="5296900"/>
            <a:ext cx="11277300" cy="960000"/>
          </a:xfrm>
          <a:prstGeom prst="rect">
            <a:avLst/>
          </a:prstGeom>
          <a:solidFill>
            <a:srgbClr val="111A47"/>
          </a:solidFill>
          <a:ln cap="flat" cmpd="sng" w="12700">
            <a:solidFill>
              <a:srgbClr val="111A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" name="Google Shape;114;p6"/>
          <p:cNvSpPr/>
          <p:nvPr/>
        </p:nvSpPr>
        <p:spPr>
          <a:xfrm>
            <a:off x="868830" y="538834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Identical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Specification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dentical prompts  · 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dentical simulator (VCS)  · 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dentical assertions bound to the DUT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68830" y="575410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only variable across runs is the LLM (or the human, for the reference).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>
            <a:off x="457350" y="6302745"/>
            <a:ext cx="11277300" cy="0"/>
          </a:xfrm>
          <a:prstGeom prst="straightConnector1">
            <a:avLst/>
          </a:prstGeom>
          <a:noFill/>
          <a:ln cap="flat" cmpd="sng" w="9525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Methodology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40080" y="1810512"/>
            <a:ext cx="640080" cy="64008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40080" y="18105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463040" y="1691640"/>
            <a:ext cx="10241280" cy="77724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7" name="Google Shape;127;p7"/>
          <p:cNvSpPr/>
          <p:nvPr/>
        </p:nvSpPr>
        <p:spPr>
          <a:xfrm>
            <a:off x="1463040" y="1691640"/>
            <a:ext cx="73152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8" name="Google Shape;128;p7"/>
          <p:cNvSpPr/>
          <p:nvPr/>
        </p:nvSpPr>
        <p:spPr>
          <a:xfrm>
            <a:off x="1691640" y="1764792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Build the </a:t>
            </a: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baseline</a:t>
            </a: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reference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691640" y="207568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Hand-write fully working UVM TBs for 14 designs (mux → AXI4). Each TB compiles, simulates, has functional coverage and bound SVAs.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40080" y="2679192"/>
            <a:ext cx="640080" cy="64008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0080" y="267919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463040" y="2560320"/>
            <a:ext cx="10241280" cy="77724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3" name="Google Shape;133;p7"/>
          <p:cNvSpPr/>
          <p:nvPr/>
        </p:nvSpPr>
        <p:spPr>
          <a:xfrm>
            <a:off x="1463040" y="2560320"/>
            <a:ext cx="73152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4" name="Google Shape;134;p7"/>
          <p:cNvSpPr/>
          <p:nvPr/>
        </p:nvSpPr>
        <p:spPr>
          <a:xfrm>
            <a:off x="1691640" y="2633472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Write the generation script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691640" y="294436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Python tool (UVM_TestBench_Gen.py) that loads RTL/Specifications, builds a structured prompt with required UVM sections, calls the LLM via Portkey AI Gateway, and parses the response into 15 files.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" y="3547872"/>
            <a:ext cx="640080" cy="64008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40080" y="354787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463040" y="3429000"/>
            <a:ext cx="10241280" cy="77724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9" name="Google Shape;139;p7"/>
          <p:cNvSpPr/>
          <p:nvPr/>
        </p:nvSpPr>
        <p:spPr>
          <a:xfrm>
            <a:off x="1463040" y="3429000"/>
            <a:ext cx="73152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0" name="Google Shape;140;p7"/>
          <p:cNvSpPr/>
          <p:nvPr/>
        </p:nvSpPr>
        <p:spPr>
          <a:xfrm>
            <a:off x="1691640" y="3502152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Run all </a:t>
            </a: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 </a:t>
            </a: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LLMs over all 14 designs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691640" y="381304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 · Gemini Pro 3.1 · Claude Opus 4.6. One attempt per (LLM × design); failing designs retried with up to 3 attempts.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" y="4416552"/>
            <a:ext cx="640080" cy="64008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40080" y="441655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463040" y="4297680"/>
            <a:ext cx="10241280" cy="77724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5" name="Google Shape;145;p7"/>
          <p:cNvSpPr/>
          <p:nvPr/>
        </p:nvSpPr>
        <p:spPr>
          <a:xfrm>
            <a:off x="1463040" y="4297680"/>
            <a:ext cx="73152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6" name="Google Shape;146;p7"/>
          <p:cNvSpPr/>
          <p:nvPr/>
        </p:nvSpPr>
        <p:spPr>
          <a:xfrm>
            <a:off x="1691640" y="4370832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Compile, debug, simulate in VCS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691640" y="468172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Failures are logged with the manual fix(es) needed. Successes are </a:t>
            </a: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simulated</a:t>
            </a: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to produce coverage and assertion reports.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5285232"/>
            <a:ext cx="640080" cy="64008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40080" y="528523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463040" y="5166360"/>
            <a:ext cx="10241280" cy="77724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1" name="Google Shape;151;p7"/>
          <p:cNvSpPr/>
          <p:nvPr/>
        </p:nvSpPr>
        <p:spPr>
          <a:xfrm>
            <a:off x="1463040" y="5166360"/>
            <a:ext cx="73152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2" name="Google Shape;152;p7"/>
          <p:cNvSpPr/>
          <p:nvPr/>
        </p:nvSpPr>
        <p:spPr>
          <a:xfrm>
            <a:off x="1691640" y="5239512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Compare each LLM TB against the </a:t>
            </a: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reference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691640" y="55504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 every design, compare the original TB and three LLM TBs (o4-mini, Gemini 3.1, Claude Opus 4.6) on score, bins covered, stimulus density, and modelling discipline.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Part II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914400" y="402336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8"/>
          <p:cNvSpPr/>
          <p:nvPr/>
        </p:nvSpPr>
        <p:spPr>
          <a:xfrm>
            <a:off x="914400" y="438912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Testbenches and results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Evaluation —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 Conformance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Evaluation — Compile &amp; Runtime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vs LLM — Functional &amp; Assertion 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Designs Chosen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58000" y="1371674"/>
            <a:ext cx="3703200" cy="7773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9"/>
          <p:cNvSpPr/>
          <p:nvPr/>
        </p:nvSpPr>
        <p:spPr>
          <a:xfrm>
            <a:off x="358000" y="1371674"/>
            <a:ext cx="3703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Combinational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58000" y="2148847"/>
            <a:ext cx="3703200" cy="21855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p9"/>
          <p:cNvSpPr/>
          <p:nvPr/>
        </p:nvSpPr>
        <p:spPr>
          <a:xfrm>
            <a:off x="723750" y="2331723"/>
            <a:ext cx="2971800" cy="17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ecoder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omparator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arrel shifter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244189" y="1371674"/>
            <a:ext cx="3703200" cy="7773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" name="Google Shape;175;p9"/>
          <p:cNvSpPr/>
          <p:nvPr/>
        </p:nvSpPr>
        <p:spPr>
          <a:xfrm>
            <a:off x="4244189" y="1371674"/>
            <a:ext cx="3703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Sequential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244200" y="2148847"/>
            <a:ext cx="3703200" cy="21855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" name="Google Shape;177;p9"/>
          <p:cNvSpPr/>
          <p:nvPr/>
        </p:nvSpPr>
        <p:spPr>
          <a:xfrm>
            <a:off x="4609950" y="2331723"/>
            <a:ext cx="29718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ounter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FSM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ync FIFO</a:t>
            </a:r>
            <a:endParaRPr b="0" i="0" sz="18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Round-Robin Arbiter</a:t>
            </a:r>
            <a:endParaRPr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130379" y="1371674"/>
            <a:ext cx="3703200" cy="7773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" name="Google Shape;179;p9"/>
          <p:cNvSpPr/>
          <p:nvPr/>
        </p:nvSpPr>
        <p:spPr>
          <a:xfrm>
            <a:off x="8130379" y="1371674"/>
            <a:ext cx="3703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 Protocols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130400" y="2148847"/>
            <a:ext cx="3703200" cy="21855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9"/>
          <p:cNvSpPr/>
          <p:nvPr/>
        </p:nvSpPr>
        <p:spPr>
          <a:xfrm>
            <a:off x="8496150" y="2331722"/>
            <a:ext cx="29718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AHB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AXI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35575" y="4561300"/>
            <a:ext cx="11277300" cy="18396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868680" y="465375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Each original TB provides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68680" y="5092478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11 UVM components, factory-registered, phase-correct  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Compiles + simulates cleanly in VCS  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covergroup with explicit bins 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 SVA assertion module + cover properties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directed and randomized stimulus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Original Testbench Results — Combinational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10"/>
          <p:cNvGraphicFramePr/>
          <p:nvPr/>
        </p:nvGraphicFramePr>
        <p:xfrm>
          <a:off x="640080" y="1402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1645925"/>
                <a:gridCol w="4297675"/>
                <a:gridCol w="1280150"/>
                <a:gridCol w="1371600"/>
                <a:gridCol w="2377450"/>
              </a:tblGrid>
              <a:tr h="51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Covergroup model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Stim. attempts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1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cps + 4 crosses (sel × inX, brute-force enum.)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2,116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 stimulus volume 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decoder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cp on cp_a only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1,292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input</a:t>
                      </a: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coverage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comparator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cp_a × cp_b (16 bins)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24,412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stimulus volume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cps + 1 cross (3-way), directed seq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95.02 %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7,439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needed </a:t>
                      </a: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 directed sequences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alu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cp on cp_opcode only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~480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operand coverage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barrel shifter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cp on cp_s only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198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output coverage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10"/>
          <p:cNvSpPr/>
          <p:nvPr/>
        </p:nvSpPr>
        <p:spPr>
          <a:xfrm>
            <a:off x="609900" y="5352825"/>
            <a:ext cx="11003100" cy="12345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609900" y="5352825"/>
            <a:ext cx="73500" cy="12345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839129" y="5444265"/>
            <a:ext cx="1054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Observation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68680" y="5764303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Most original TBs reach 100 % coverage but on shallow models. Decoder, ALU, and barrel-shifter cover only one input-side coverpoint each — outputs and operand corners are never sampled. </a:t>
            </a:r>
            <a:r>
              <a:rPr b="0" i="1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Adder requires a hard-coded 102-bin directed sequence to close the 3-way cross. </a:t>
            </a: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Stimulus density is the original's main strength — comparator hits 24K assertion attempts.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Original Testbench Results — Sequential &amp; Protocol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11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1067675"/>
                <a:gridCol w="3232575"/>
                <a:gridCol w="1368425"/>
                <a:gridCol w="1291525"/>
                <a:gridCol w="4012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Covergroup model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Stim. attempts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(none — subscriber commented out)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3,840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functional coverage at all; 2 dead sequences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cp on cp_control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operand or output coverage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FSM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cps; no cross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Reset exercised only 2× (vs claude's 24×)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sync FIFO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cps; no cross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stimulus on no-write-when-full corner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covergroups w/ back-to-back R/W cross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Strongest FSM-traversal stimulus of any TB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AHB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CGs (HBURST, HTRANS-trans, ignore_bins)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~87 %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240+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TB to cover HBURST + HTRANS transitions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AXI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CGs incl. cg_protocol_errors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~97.78 %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1,023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Per-channel coverage + byte-error ignore_bins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Arbiter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 vars + 32 crosses, ignore_bins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1,497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Caught 10 real assertion failures — only TB to do so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aa10bbaea_0_10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aa10bbaea_0_10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9aa10bbaea_0_10"/>
          <p:cNvSpPr txBox="1"/>
          <p:nvPr/>
        </p:nvSpPr>
        <p:spPr>
          <a:xfrm>
            <a:off x="603600" y="160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Mux - Coverage Analysis (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Original Results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28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12" name="Google Shape;212;g39aa10bbaea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26500"/>
            <a:ext cx="11887198" cy="436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aa10bbaea_0_109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aa10bbaea_0_109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9aa10bbaea_0_109"/>
          <p:cNvSpPr txBox="1"/>
          <p:nvPr/>
        </p:nvSpPr>
        <p:spPr>
          <a:xfrm>
            <a:off x="603600" y="1601400"/>
            <a:ext cx="1056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Mux - Coverage Analysis (Addition of LLM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Generated Tests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28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0" name="Google Shape;220;g39aa10bbaea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26500"/>
            <a:ext cx="11887198" cy="42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aa10bbaea_0_122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9aa10bbaea_0_122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9aa10bbaea_0_122"/>
          <p:cNvSpPr txBox="1"/>
          <p:nvPr/>
        </p:nvSpPr>
        <p:spPr>
          <a:xfrm>
            <a:off x="603600" y="160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Adder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- Coverage Analysis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(Original Results)</a:t>
            </a:r>
            <a:endParaRPr sz="28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8" name="Google Shape;228;g39aa10bbaea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550" y="2840450"/>
            <a:ext cx="10687050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aa10bbaea_0_131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9aa10bbaea_0_131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9aa10bbaea_0_131"/>
          <p:cNvSpPr txBox="1"/>
          <p:nvPr/>
        </p:nvSpPr>
        <p:spPr>
          <a:xfrm>
            <a:off x="603600" y="1601400"/>
            <a:ext cx="1027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Adder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- Coverage Analysis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(Addition of LLM Generated Tests)</a:t>
            </a:r>
            <a:endParaRPr sz="28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36" name="Google Shape;236;g39aa10bbaea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2751250"/>
            <a:ext cx="1068705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aa10bbaea_0_139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9aa10bbaea_0_139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9aa10bbaea_0_139"/>
          <p:cNvSpPr txBox="1"/>
          <p:nvPr/>
        </p:nvSpPr>
        <p:spPr>
          <a:xfrm>
            <a:off x="603600" y="160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USR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- Coverage Analysis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(Original Results)</a:t>
            </a:r>
            <a:endParaRPr sz="28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44" name="Google Shape;244;g39aa10bbaea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2551350"/>
            <a:ext cx="1068705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aa10bbaea_0_146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9aa10bbaea_0_146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9aa10bbaea_0_146"/>
          <p:cNvSpPr txBox="1"/>
          <p:nvPr/>
        </p:nvSpPr>
        <p:spPr>
          <a:xfrm>
            <a:off x="603600" y="160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USR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- Coverage Analysis </a:t>
            </a: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(Addition of LLM Generated Tests)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2" name="Google Shape;252;g39aa10bbaea_0_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751250"/>
            <a:ext cx="1068705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aa10bbaea_0_155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aa10bbaea_0_155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9aa10bbaea_0_155"/>
          <p:cNvSpPr txBox="1"/>
          <p:nvPr/>
        </p:nvSpPr>
        <p:spPr>
          <a:xfrm>
            <a:off x="603600" y="160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Round Robin Arbiter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-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(Original Results)</a:t>
            </a:r>
            <a:endParaRPr sz="28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60" name="Google Shape;260;g39aa10bbaea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26500"/>
            <a:ext cx="112776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aa10bbaea_0_162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9aa10bbaea_0_162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9aa10bbaea_0_162"/>
          <p:cNvSpPr txBox="1"/>
          <p:nvPr/>
        </p:nvSpPr>
        <p:spPr>
          <a:xfrm>
            <a:off x="603600" y="160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Round Robin Arbiter 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-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(Addition of LLM Generated Tests)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68" name="Google Shape;268;g39aa10bbaea_0_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88" y="2751250"/>
            <a:ext cx="9596824" cy="35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aa10bbaea_0_169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9aa10bbaea_0_169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Using LLMs to Generate Directed Tests for Better Coverage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9aa10bbaea_0_169"/>
          <p:cNvSpPr txBox="1"/>
          <p:nvPr/>
        </p:nvSpPr>
        <p:spPr>
          <a:xfrm>
            <a:off x="603600" y="1601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Round Robin Arbiter </a:t>
            </a: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- 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(Addition of LLM Generated Tests)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76" name="Google Shape;276;g39aa10bbaea_0_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26500"/>
            <a:ext cx="11887199" cy="3742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aa09eebd5_0_1"/>
          <p:cNvSpPr/>
          <p:nvPr/>
        </p:nvSpPr>
        <p:spPr>
          <a:xfrm>
            <a:off x="8595360" y="1965960"/>
            <a:ext cx="3246000" cy="4389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9aa09eebd5_0_1"/>
          <p:cNvSpPr/>
          <p:nvPr/>
        </p:nvSpPr>
        <p:spPr>
          <a:xfrm>
            <a:off x="8778240" y="2103120"/>
            <a:ext cx="292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9aa09eebd5_0_1"/>
          <p:cNvSpPr/>
          <p:nvPr/>
        </p:nvSpPr>
        <p:spPr>
          <a:xfrm>
            <a:off x="8778240" y="2697480"/>
            <a:ext cx="29262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&amp; o4-mini tied at 93%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 first attempt — 13 of 14 designs each.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3.1 Preview</a:t>
            </a: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truncated outputs heavily, leaving entire sections empty (29% pass).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size is not a reliable predictor</a:t>
            </a: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of structural quality.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g39aa09eebd5_0_1"/>
          <p:cNvCxnSpPr/>
          <p:nvPr/>
        </p:nvCxnSpPr>
        <p:spPr>
          <a:xfrm>
            <a:off x="457200" y="6355080"/>
            <a:ext cx="11277300" cy="0"/>
          </a:xfrm>
          <a:prstGeom prst="straightConnector1">
            <a:avLst/>
          </a:prstGeom>
          <a:noFill/>
          <a:ln cap="flat" cmpd="sng" w="95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6" name="Google Shape;286;g39aa09eebd5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5775"/>
            <a:ext cx="8362549" cy="48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9aa09eebd5_0_1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9aa09eebd5_0_1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LLM Evaluation — Structural Conformance</a:t>
            </a:r>
            <a:endParaRPr b="1" sz="2800">
              <a:solidFill>
                <a:srgbClr val="1A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LLM Success — Per-Design Pass/Fail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p13"/>
          <p:cNvGraphicFramePr/>
          <p:nvPr/>
        </p:nvGraphicFramePr>
        <p:xfrm>
          <a:off x="89792" y="1783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1525575"/>
                <a:gridCol w="797250"/>
                <a:gridCol w="725400"/>
                <a:gridCol w="671450"/>
                <a:gridCol w="725375"/>
                <a:gridCol w="707400"/>
                <a:gridCol w="747050"/>
                <a:gridCol w="721650"/>
                <a:gridCol w="761325"/>
                <a:gridCol w="833225"/>
                <a:gridCol w="833200"/>
                <a:gridCol w="725375"/>
                <a:gridCol w="725375"/>
                <a:gridCol w="635500"/>
                <a:gridCol w="8152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adder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ahb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alu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apb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arbiter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axi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barrel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counter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decoder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fifo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fsm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mux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syncfifo</a:t>
                      </a:r>
                      <a:endParaRPr sz="14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232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232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8A6E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E8A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13"/>
          <p:cNvSpPr/>
          <p:nvPr/>
        </p:nvSpPr>
        <p:spPr>
          <a:xfrm>
            <a:off x="639993" y="4480590"/>
            <a:ext cx="5349300" cy="1280100"/>
          </a:xfrm>
          <a:prstGeom prst="rect">
            <a:avLst/>
          </a:prstGeom>
          <a:solidFill>
            <a:srgbClr val="F5D7D2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639993" y="4480590"/>
            <a:ext cx="73200" cy="1280100"/>
          </a:xfrm>
          <a:prstGeom prst="rect">
            <a:avLst/>
          </a:prstGeom>
          <a:solidFill>
            <a:srgbClr val="B23232"/>
          </a:solidFill>
          <a:ln cap="flat" cmpd="sng" w="12700">
            <a:solidFill>
              <a:srgbClr val="B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868593" y="457203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B23232"/>
                </a:solidFill>
                <a:latin typeface="Georgia"/>
                <a:ea typeface="Georgia"/>
                <a:cs typeface="Georgia"/>
                <a:sym typeface="Georgia"/>
              </a:rPr>
              <a:t>Hardest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868593" y="4892070"/>
            <a:ext cx="4937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AXI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decoder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fail across </a:t>
            </a:r>
            <a:r>
              <a:rPr lang="en-US" sz="16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en-US" sz="16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models. AXI's complexity overwhelms output budgets;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263552" y="4480590"/>
            <a:ext cx="5349300" cy="1280100"/>
          </a:xfrm>
          <a:prstGeom prst="rect">
            <a:avLst/>
          </a:prstGeom>
          <a:solidFill>
            <a:srgbClr val="FAEBCF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263553" y="4480590"/>
            <a:ext cx="73200" cy="1280100"/>
          </a:xfrm>
          <a:prstGeom prst="rect">
            <a:avLst/>
          </a:prstGeom>
          <a:solidFill>
            <a:srgbClr val="C58A1A"/>
          </a:solidFill>
          <a:ln cap="flat" cmpd="sng" w="12700">
            <a:solidFill>
              <a:srgbClr val="C58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6492152" y="457203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C58A1A"/>
                </a:solidFill>
                <a:latin typeface="Georgia"/>
                <a:ea typeface="Georgia"/>
                <a:cs typeface="Georgia"/>
                <a:sym typeface="Georgia"/>
              </a:rPr>
              <a:t>Failure-mode signatures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492152" y="4892070"/>
            <a:ext cx="4937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 </a:t>
            </a:r>
            <a:r>
              <a:rPr lang="en-US" sz="16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fails by truncation (output cap &lt; 16 KB tokens). </a:t>
            </a:r>
            <a:r>
              <a:rPr b="1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 only fails AXI.</a:t>
            </a:r>
            <a:endParaRPr b="1" i="0" sz="165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t/>
            </a:r>
            <a:endParaRPr b="1" sz="16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9aa09eebd5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96625"/>
            <a:ext cx="6467609" cy="490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9aa09eebd5_0_18"/>
          <p:cNvSpPr/>
          <p:nvPr/>
        </p:nvSpPr>
        <p:spPr>
          <a:xfrm>
            <a:off x="6724675" y="1024250"/>
            <a:ext cx="5367600" cy="2437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9aa09eebd5_0_18"/>
          <p:cNvSpPr/>
          <p:nvPr/>
        </p:nvSpPr>
        <p:spPr>
          <a:xfrm>
            <a:off x="457200" y="457200"/>
            <a:ext cx="146400" cy="640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9aa09eebd5_0_18"/>
          <p:cNvSpPr/>
          <p:nvPr/>
        </p:nvSpPr>
        <p:spPr>
          <a:xfrm>
            <a:off x="731520" y="384048"/>
            <a:ext cx="1100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LLM </a:t>
            </a: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Failure</a:t>
            </a: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— </a:t>
            </a: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Gemini 3.1 Deepdive</a:t>
            </a: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g39aa09eebd5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9225" y="3639200"/>
            <a:ext cx="6593001" cy="2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9aa09eebd5_0_18"/>
          <p:cNvSpPr/>
          <p:nvPr/>
        </p:nvSpPr>
        <p:spPr>
          <a:xfrm>
            <a:off x="403600" y="4988525"/>
            <a:ext cx="3793800" cy="145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9aa09eebd5_0_18"/>
          <p:cNvSpPr/>
          <p:nvPr/>
        </p:nvSpPr>
        <p:spPr>
          <a:xfrm>
            <a:off x="7336525" y="5182250"/>
            <a:ext cx="3722100" cy="121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9aa09eebd5_0_18"/>
          <p:cNvSpPr txBox="1"/>
          <p:nvPr/>
        </p:nvSpPr>
        <p:spPr>
          <a:xfrm>
            <a:off x="6924800" y="1069625"/>
            <a:ext cx="51675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truncated at the scoreboard class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Script logs show that the subsequent classes were not present during the parsing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-------------------------------------------------------------------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was mitigated by increasing number of tokens per API Call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LLM Evaluation — Compile &amp; Runtime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640075" y="1691648"/>
            <a:ext cx="4985100" cy="2495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1249676" y="1782951"/>
            <a:ext cx="381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 / </a:t>
            </a:r>
            <a:r>
              <a:rPr b="1" lang="en-US" sz="3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868680" y="2880455"/>
            <a:ext cx="4572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1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models produced testbenches that compiled and ran cleanly without manual fixes.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6035050" y="1691648"/>
            <a:ext cx="5577900" cy="24957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6035050" y="1691648"/>
            <a:ext cx="73200" cy="2495700"/>
          </a:xfrm>
          <a:prstGeom prst="rect">
            <a:avLst/>
          </a:prstGeom>
          <a:solidFill>
            <a:srgbClr val="B23232"/>
          </a:solidFill>
          <a:ln cap="flat" cmpd="sng" w="12700">
            <a:solidFill>
              <a:srgbClr val="B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6263640" y="17830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B23232"/>
                </a:solidFill>
                <a:latin typeface="Georgia"/>
                <a:ea typeface="Georgia"/>
                <a:cs typeface="Georgia"/>
                <a:sym typeface="Georgia"/>
              </a:rPr>
              <a:t>The structural–functional gap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6263650" y="2286000"/>
            <a:ext cx="51207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Producing 11 files in the right format</a:t>
            </a:r>
            <a:r>
              <a:rPr b="1" i="0" lang="en-US" sz="1450" u="none" cap="none" strike="noStrike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 ≠ a working VCS-elaborable testbench.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Even the LLMs that score 93 % on structural conformance produce code that fails to elaborate, simulates with null-pointer dereferences, or hangs because objections are never dropped.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0" i="1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Every model's output required manual debug to reach a runnable simulation.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44850" y="4676800"/>
            <a:ext cx="3657600" cy="1326000"/>
          </a:xfrm>
          <a:prstGeom prst="rect">
            <a:avLst/>
          </a:prstGeom>
          <a:solidFill>
            <a:srgbClr val="F5D7D2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444856" y="4676795"/>
            <a:ext cx="3657600" cy="91500"/>
          </a:xfrm>
          <a:prstGeom prst="rect">
            <a:avLst/>
          </a:prstGeom>
          <a:solidFill>
            <a:srgbClr val="B23232"/>
          </a:solidFill>
          <a:ln cap="flat" cmpd="sng" w="12700">
            <a:solidFill>
              <a:srgbClr val="B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627730" y="4859679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B23232"/>
                </a:solidFill>
                <a:latin typeface="Georgia"/>
                <a:ea typeface="Georgia"/>
                <a:cs typeface="Georgia"/>
                <a:sym typeface="Georgia"/>
              </a:rPr>
              <a:t>Universal errors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627736" y="5225435"/>
            <a:ext cx="3291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Missing uvm_macros.svh, no virtual interface, wrong UVM phases — present in every model on at least one design.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267047" y="4676800"/>
            <a:ext cx="3657600" cy="1326000"/>
          </a:xfrm>
          <a:prstGeom prst="rect">
            <a:avLst/>
          </a:prstGeom>
          <a:solidFill>
            <a:srgbClr val="FAEBCF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4267048" y="4676795"/>
            <a:ext cx="3657600" cy="91500"/>
          </a:xfrm>
          <a:prstGeom prst="rect">
            <a:avLst/>
          </a:prstGeom>
          <a:solidFill>
            <a:srgbClr val="C58A1A"/>
          </a:solidFill>
          <a:ln cap="flat" cmpd="sng" w="12700">
            <a:solidFill>
              <a:srgbClr val="C58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4449927" y="4859679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58A1A"/>
                </a:solidFill>
                <a:latin typeface="Georgia"/>
                <a:ea typeface="Georgia"/>
                <a:cs typeface="Georgia"/>
                <a:sym typeface="Georgia"/>
              </a:rPr>
              <a:t>Model-specific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4449928" y="5225435"/>
            <a:ext cx="3291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leftover prose · Gemini 3.1: truncation · o4-mini: bad clocking-block writes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and incomplete sections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8089245" y="4676800"/>
            <a:ext cx="3657600" cy="13260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8089240" y="4676795"/>
            <a:ext cx="3657600" cy="91500"/>
          </a:xfrm>
          <a:prstGeom prst="rect">
            <a:avLst/>
          </a:prstGeom>
          <a:solidFill>
            <a:srgbClr val="2A6FB8"/>
          </a:solidFill>
          <a:ln cap="flat" cmpd="sng" w="12700">
            <a:solidFill>
              <a:srgbClr val="2A6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8272125" y="4859679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B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A6FB8"/>
                </a:solidFill>
                <a:latin typeface="Georgia"/>
                <a:ea typeface="Georgia"/>
                <a:cs typeface="Georgia"/>
                <a:sym typeface="Georgia"/>
              </a:rPr>
              <a:t>Design-specific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8272120" y="5225435"/>
            <a:ext cx="3291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AXI overwhelms every model. Decoder coverage cross is mis-modelled across all four LLMs.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Compile &amp; Runtime — Categories of Errors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16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2640000"/>
                <a:gridCol w="2074275"/>
                <a:gridCol w="3205700"/>
                <a:gridCol w="3394300"/>
              </a:tblGrid>
              <a:tr h="11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cause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Recommended action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1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 - Prompt-Fixable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issue classes (100s of instances)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Boilerplate forgetfulness — recurring scaffolding mistakes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ighten the prompt with templates, checklists, and a do/don't reference card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</a:tr>
              <a:tr h="11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</a:t>
                      </a:r>
                      <a:r>
                        <a:rPr b="1" lang="en-US" sz="17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</a:t>
                      </a:r>
                      <a:r>
                        <a:rPr b="1" lang="en-US" sz="17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Architectural (Partial)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issue classes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UVM phase / connection model not fully internalised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rovide a worked-out skeleton testbench in the prompt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117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b="1" lang="en-US" sz="17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 </a:t>
                      </a:r>
                      <a:r>
                        <a:rPr b="1" lang="en-US" sz="17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Model-Inherent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issue classes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Reasoning, hallucination, design-comprehension limits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7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7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eeds better models</a:t>
                      </a:r>
                      <a:r>
                        <a:rPr lang="en-US" sz="17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manual correction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Compile &amp; Runtime — A</a:t>
            </a: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Bucket Errors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9" name="Google Shape;359;p17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731525"/>
                <a:gridCol w="3291850"/>
                <a:gridCol w="4023350"/>
                <a:gridCol w="2926075"/>
              </a:tblGrid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/ Issue</a:t>
                      </a:r>
                      <a:endParaRPr sz="1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Models affected</a:t>
                      </a:r>
                      <a:endParaRPr sz="1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UVM imports / macros / `timescale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omits required header lines, causing 'uvm_sequence_item should be a valid type' on every design.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o4-mini, Gemini </a:t>
                      </a:r>
                      <a:r>
                        <a:rPr lang="en-US" sz="15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</a:t>
                      </a: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Claude (every design)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A2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UVM factory registration macros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Classes not registered with `uvm_object_utils` / `uvm_component_utils`, breaking type_id::create().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 (most), Claude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Concrete (non-virtual) interface inside class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Driver/monitor declares `apb_if vif;` instead of `virtual apb_if vif;` — fails to compile.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A4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run_phase declared as function (not task)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 start cannot block; or task body declared as function — illegal class assignment.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o4-mini, Claude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A5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Coverpoints reference vif / external signals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Covergroup samples vif.cb.* instead of class transaction fields → compile error.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o4-mini, Claude 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Compile &amp; Runtime — B &amp; C Bucket Errors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640080" y="1691640"/>
            <a:ext cx="5440680" cy="4709160"/>
          </a:xfrm>
          <a:prstGeom prst="rect">
            <a:avLst/>
          </a:prstGeom>
          <a:solidFill>
            <a:srgbClr val="FAEBCF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640080" y="1691640"/>
            <a:ext cx="91440" cy="4709160"/>
          </a:xfrm>
          <a:prstGeom prst="rect">
            <a:avLst/>
          </a:prstGeom>
          <a:solidFill>
            <a:srgbClr val="C58A1A"/>
          </a:solidFill>
          <a:ln cap="flat" cmpd="sng" w="12700">
            <a:solidFill>
              <a:srgbClr val="C58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868680" y="17830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600"/>
              <a:buFont typeface="Georgia"/>
              <a:buNone/>
            </a:pPr>
            <a:r>
              <a:rPr b="1" i="0" lang="en-US" sz="2000" u="none" cap="none" strike="noStrike">
                <a:solidFill>
                  <a:srgbClr val="C58A1A"/>
                </a:solidFill>
                <a:latin typeface="Georgia"/>
                <a:ea typeface="Georgia"/>
                <a:cs typeface="Georgia"/>
                <a:sym typeface="Georgia"/>
              </a:rPr>
              <a:t>Category B — Architectural (Partial)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868680" y="2240280"/>
            <a:ext cx="5120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C58A1A"/>
                </a:solidFill>
                <a:latin typeface="Calibri"/>
                <a:ea typeface="Calibri"/>
                <a:cs typeface="Calibri"/>
                <a:sym typeface="Calibri"/>
              </a:rPr>
              <a:t>B1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UVM phase usage errors — env created in build_phase but child components in connect_phase; run_test() called after a #20 delay.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C58A1A"/>
                </a:solidFill>
                <a:latin typeface="Calibri"/>
                <a:ea typeface="Calibri"/>
                <a:cs typeface="Calibri"/>
                <a:sym typeface="Calibri"/>
              </a:rPr>
              <a:t>B2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Missing connect_phase wiring — driver→sequencer or monitor→scoreboard never connected; null-object accesses at runtime.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C58A1A"/>
                </a:solidFill>
                <a:latin typeface="Calibri"/>
                <a:ea typeface="Calibri"/>
                <a:cs typeface="Calibri"/>
                <a:sym typeface="Calibri"/>
              </a:rPr>
              <a:t>B4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Missing/incorrect component constructors — classes lack the canonical new(string name, uvm_component parent) or fail to call super.new().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C58A1A"/>
                </a:solidFill>
                <a:latin typeface="Calibri"/>
                <a:ea typeface="Calibri"/>
                <a:cs typeface="Calibri"/>
                <a:sym typeface="Calibri"/>
              </a:rPr>
              <a:t>B5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Forgotten / never-dropped objections — either omitted (causing PH_TIMEOUT) or raised in the driver and never dropped (sim hangs).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6172200" y="1691640"/>
            <a:ext cx="5440680" cy="4709160"/>
          </a:xfrm>
          <a:prstGeom prst="rect">
            <a:avLst/>
          </a:prstGeom>
          <a:solidFill>
            <a:srgbClr val="F5D7D2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6172200" y="1691640"/>
            <a:ext cx="91440" cy="4709160"/>
          </a:xfrm>
          <a:prstGeom prst="rect">
            <a:avLst/>
          </a:prstGeom>
          <a:solidFill>
            <a:srgbClr val="B23232"/>
          </a:solidFill>
          <a:ln cap="flat" cmpd="sng" w="12700">
            <a:solidFill>
              <a:srgbClr val="B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6400800" y="17830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1600"/>
              <a:buFont typeface="Georgia"/>
              <a:buNone/>
            </a:pPr>
            <a:r>
              <a:rPr b="1" i="0" lang="en-US" sz="2000" u="none" cap="none" strike="noStrike">
                <a:solidFill>
                  <a:srgbClr val="B23232"/>
                </a:solidFill>
                <a:latin typeface="Georgia"/>
                <a:ea typeface="Georgia"/>
                <a:cs typeface="Georgia"/>
                <a:sym typeface="Georgia"/>
              </a:rPr>
              <a:t>Category C — Model-Inherent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6400800" y="2240280"/>
            <a:ext cx="51206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C2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Missing transaction output fields — sequence item omits the DUT's output signals; monitor and scoreboard then reference fields that don't exist.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C3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Hallucinated UVM APIs — sequencer.start(), driver.start(), monitor.start() — fabricated component methods that don't exist in UVM.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C4 </a:t>
            </a: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Wrong scoreboard reference model — compiles cleanly, simulates, but [SCB_FAIL] mismatches because the predicted output is wrong.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1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Especially Gemini 3.1 (FSM, sync FIFO, arbiter, AHB, APB) — the hardest class of bug to catch: the TB looks right, runs cleanly, but checks the wrong thing.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Compile &amp; Runtime — </a:t>
            </a:r>
            <a:r>
              <a:rPr b="1" lang="en-US" sz="2800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Counter Deepdive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" name="Google Shape;382;p19"/>
          <p:cNvGraphicFramePr/>
          <p:nvPr/>
        </p:nvGraphicFramePr>
        <p:xfrm>
          <a:off x="640080" y="1475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5425775"/>
                <a:gridCol w="1862725"/>
                <a:gridCol w="3988775"/>
              </a:tblGrid>
              <a:tr h="50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</a:t>
                      </a:r>
                      <a:r>
                        <a:rPr b="1" lang="en-US" sz="2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3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`uvm_object_utils(counter_seq_item) and logic [3:0] dout;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factory macro + output field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body declared as function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to virtual task body()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start(item) used incorrectly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Replace with start_item(item) / finish_item(item)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invalid uvm_test_top.clock cross-module reference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 class samples vif.cb_mon.* (compile fail)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Replace with transaction-based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argument name mismatch in coverage write()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Rename item to 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 declaration / assignment combined → syntax error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 into two statements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declared as function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to virtual task run_phase(uvm_phase phase)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starting sequence inside function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Move into run_phase task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driver's seq_item_port not connected to sequencer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5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driver.seq_item_port.connect(sequencer.seq_item_export)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Part II</a:t>
            </a:r>
            <a:r>
              <a:rPr i="1" lang="en-US" sz="2200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Original vs LLM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600"/>
              <a:buFont typeface="Georgia"/>
              <a:buNone/>
            </a:pPr>
            <a:r>
              <a:rPr b="0" i="1" lang="en-US" sz="36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Functional &amp; Assertion Coverage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20"/>
          <p:cNvCxnSpPr/>
          <p:nvPr/>
        </p:nvCxnSpPr>
        <p:spPr>
          <a:xfrm>
            <a:off x="914400" y="484632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20"/>
          <p:cNvSpPr/>
          <p:nvPr/>
        </p:nvSpPr>
        <p:spPr>
          <a:xfrm>
            <a:off x="914400" y="50292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All 14 designs · 4 testbenches per design (Original / o4-mini / Gemini 3.1 Pro / Claude Opus 4.6)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914400" y="5486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Compared on score, bins covered, stimulus density, and modelling discipline.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1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Coverage Comparison — Methodology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640080" y="1691640"/>
            <a:ext cx="5394960" cy="470916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640080" y="1691640"/>
            <a:ext cx="73152" cy="47091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868680" y="17830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Six metrics, every design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868680" y="219456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Overall coverage score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Composite of variable-bin closure × cross-bin closure across all covergroups.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User SVA assertions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Pass / total of bound design-level assertions.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Cover properties hit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Did each cover property fire at least once?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Coverpoint variable closure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Variable bins covered / total declared.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Cross coverage closure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Cross-product bins covered / total declared.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Total clock cycles per assertion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proxy for stimulus density.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6400800" y="1691640"/>
            <a:ext cx="5212080" cy="4709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"/>
          <p:cNvSpPr/>
          <p:nvPr/>
        </p:nvSpPr>
        <p:spPr>
          <a:xfrm>
            <a:off x="6583680" y="178308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Cell-shading legend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6583680" y="2377440"/>
            <a:ext cx="1188720" cy="548640"/>
          </a:xfrm>
          <a:prstGeom prst="rect">
            <a:avLst/>
          </a:prstGeom>
          <a:solidFill>
            <a:srgbClr val="D9F0E5"/>
          </a:solidFill>
          <a:ln cap="flat" cmpd="sng" w="12700">
            <a:solidFill>
              <a:srgbClr val="0E8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6583680" y="237744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8A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8A6E"/>
                </a:solidFill>
                <a:latin typeface="Calibri"/>
                <a:ea typeface="Calibri"/>
                <a:cs typeface="Calibri"/>
                <a:sym typeface="Calibri"/>
              </a:rPr>
              <a:t>Good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7909560" y="23774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Strong coverage / high stimulus / proper modelling discipline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6583680" y="3291840"/>
            <a:ext cx="1188720" cy="548640"/>
          </a:xfrm>
          <a:prstGeom prst="rect">
            <a:avLst/>
          </a:prstGeom>
          <a:solidFill>
            <a:srgbClr val="F4F4F7"/>
          </a:solidFill>
          <a:ln cap="flat" cmpd="sng" w="12700">
            <a:solidFill>
              <a:srgbClr val="5A6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6583680" y="329184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7909560" y="32918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Acceptable / baseline (e.g. standard UVM register-map asserts uncovered)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6583680" y="4206240"/>
            <a:ext cx="1188720" cy="548640"/>
          </a:xfrm>
          <a:prstGeom prst="rect">
            <a:avLst/>
          </a:prstGeom>
          <a:solidFill>
            <a:srgbClr val="FAEBCF"/>
          </a:solidFill>
          <a:ln cap="flat" cmpd="sng" w="12700">
            <a:solidFill>
              <a:srgbClr val="C58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1"/>
          <p:cNvSpPr/>
          <p:nvPr/>
        </p:nvSpPr>
        <p:spPr>
          <a:xfrm>
            <a:off x="6583680" y="420624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8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58A1A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7909560" y="42062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Notable gap, modelling oversight, hollow score, or reachability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583680" y="5120640"/>
            <a:ext cx="1188720" cy="548640"/>
          </a:xfrm>
          <a:prstGeom prst="rect">
            <a:avLst/>
          </a:prstGeom>
          <a:solidFill>
            <a:srgbClr val="F5D7D2"/>
          </a:solidFill>
          <a:ln cap="flat" cmpd="sng" w="12700">
            <a:solidFill>
              <a:srgbClr val="B2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6583680" y="512064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Bad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7909560" y="51206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Severe defect, catastrophic stimulus weakness, or broken coverage wiring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1 — Mux (4:1 Multiplexer)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6" name="Google Shape;426;p22"/>
          <p:cNvGraphicFramePr/>
          <p:nvPr/>
        </p:nvGraphicFramePr>
        <p:xfrm>
          <a:off x="640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65.28 %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11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10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11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/ 18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SVA props ✓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SVA props ✓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SVA props ✓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SVA props ✓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 / 68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/ 6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/ 12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 / 34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196 / 196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32 = 21.88 %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 / 80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2,116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427" name="Google Shape;427;p22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28" name="Google Shape;428;p22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29" name="Google Shape;429;p22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brute-force enumeration of all 4-bit inputs; massive stimulus density but no output coverage.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only in0 covered (in1 / in2 / in3 ignored); coverage model is hollow despite 100 % score.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iff-guarded crosses make 24 of 32 cross-bins unreachable by construction; one declared sequence never executed.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only TB to cover the output, transitions, and data patterns; 7 sequence-body asserts all succeed.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2 — Decoder (3-to-8 One-Hot)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8" name="Google Shape;438;p23"/>
          <p:cNvGraphicFramePr/>
          <p:nvPr/>
        </p:nvGraphicFramePr>
        <p:xfrm>
          <a:off x="640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2752700"/>
                <a:gridCol w="245940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7.03 %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70.83 %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78.41 %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/ 18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17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/ 17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/ 17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14 SVA props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14 unfired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/ 72 = 2.78 %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/ 16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 / 35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64 = 12.50 %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/ 88 = 13.64 %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1,292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3,638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439" name="Google Shape;439;p23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0" name="Google Shape;440;p23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1" name="Google Shape;441;p23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1 cp on cp_a — closes 100 % trivially; no output coverage at all.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64 auto-bins on 8-bit output, of which only 8 are legal — 7 of 8 case assertions never attempted.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cross score depressed by auto-generated input-output combinations that are unreachable by design (should have used illegal_bins).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largest meaningful bin space; only TB with transition coverage on cp_a and illegal_bins on cp_d to flag non-one-hot outputs.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3 — Adder (4-bit Ripple-Carry)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0" name="Google Shape;450;p24"/>
          <p:cNvGraphicFramePr/>
          <p:nvPr/>
        </p:nvGraphicFramePr>
        <p:xfrm>
          <a:off x="640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2537050"/>
                <a:gridCol w="26750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% (random-only: 80.08)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~70.83 %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95.24 %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 / 36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 / 36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 / 36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 / 36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 / 34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38 (split CGs)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 / 13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/ 18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512</a:t>
                      </a: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 512 = 80.08 %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/ 0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13 = 76.92 %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 / 107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7,439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9,092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451" name="Google Shape;451;p24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2" name="Google Shape;452;p24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3" name="Google Shape;453;p24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102-line hard-coded directed-closure sequence inflates score; per-FA stimulus is uniform (~720 attempts each).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10 transactions hit the top adder; upper full-adders fire only 9 times; no cross coverage.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clean 3-bin operand model but cross only covers (a × b) and (cin × cout) — no input-output cross.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only TB to close all 125 bins organically (no directed hacks); 6 cross-coverpoints incl. output-side crosses.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5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4 — Comparator (2-bit)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2" name="Google Shape;462;p25"/>
          <p:cNvGraphicFramePr/>
          <p:nvPr/>
        </p:nvGraphicFramePr>
        <p:xfrm>
          <a:off x="640055" y="1504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68.75 %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97.92 %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90.91 %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 / 21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 / 22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/ 20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/ 20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17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GT_* never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/ 6 = 83.33 %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/ 14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 / 23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/ 16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/ 8 = 25 %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/ 16 = 87.50 %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 / 88 = 75.00 %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24,412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1,125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463" name="Google Shape;463;p25"/>
          <p:cNvSpPr/>
          <p:nvPr/>
        </p:nvSpPr>
        <p:spPr>
          <a:xfrm>
            <a:off x="640075" y="4636700"/>
            <a:ext cx="10972800" cy="20847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64" name="Google Shape;464;p25"/>
          <p:cNvSpPr/>
          <p:nvPr/>
        </p:nvSpPr>
        <p:spPr>
          <a:xfrm>
            <a:off x="640066" y="4636800"/>
            <a:ext cx="18300" cy="17640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65" name="Google Shape;465;p25"/>
          <p:cNvSpPr/>
          <p:nvPr/>
        </p:nvSpPr>
        <p:spPr>
          <a:xfrm>
            <a:off x="868680" y="4791546"/>
            <a:ext cx="1051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dominant stimulus density (24K attempts); cp_a × cp_b cross saturates with random.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never produced a &gt; b case — 3 case asserts (GT_HIGH, GT_EQ, GT_LT) never attempted; agreaterb output bin uncovered.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2 missing cross bins are random-stimulus gaps; clean overall.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composite cp_result with illegal_bins for non-one-hot outputs; 3-way cx_full cross has unreachable bins (should have been illegal_bins).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6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5 — ALU (8-bit, 8 opcodes)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4" name="Google Shape;474;p26"/>
          <p:cNvGraphicFramePr/>
          <p:nvPr/>
        </p:nvGraphicFramePr>
        <p:xfrm>
          <a:off x="640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77.78 %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91.38 %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92.75 %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/ 24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/ 24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/ 24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/ 24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SUB / SHR (1–2×)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/ 14 = 85.71 %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 / 26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 / 35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 / 200 = 31.00 %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 / 192 = 83.07 %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~480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~210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~2,700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~5,640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475" name="Google Shape;475;p26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76" name="Google Shape;476;p26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1 cp on cp_opcode only — score is hollow; no operand or flag coverage; SUB / SHR fired only 2–3×.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cp_a / cp_b high bin (255) never hit; SUB_RESULT fired only 2× — 1-bit-flip bug could go undetected.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signed-arithmetic-aware operand bins (zeros / ones / pos_max=0x7F / neg_min=0x80); 1 cross drops to 31 % from over-expansion.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only TB with output coverage and 4 flag×opcode crosses; finer 8-bin operand model targets every signed corner.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6 — Barrel Shifter (8-bit Right)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6" name="Google Shape;486;p27"/>
          <p:cNvGraphicFramePr/>
          <p:nvPr/>
        </p:nvGraphicFramePr>
        <p:xfrm>
          <a:off x="640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66.67 %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61.67 %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~95.7 %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attempted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/ MAX fired 1×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/ MAX 7×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/ MAX 91–92×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/ 5 = 80 %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/ 13 = 84.6 %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 / 35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/ 6 = 33.3 %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40 = 25 %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136 / 152 = 89.5 %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2,523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487" name="Google Shape;487;p27"/>
          <p:cNvSpPr/>
          <p:nvPr/>
        </p:nvSpPr>
        <p:spPr>
          <a:xfrm>
            <a:off x="640075" y="4837175"/>
            <a:ext cx="10972800" cy="17763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8" name="Google Shape;488;p27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9" name="Google Shape;489;p27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1 cp on cp_s only — hollow 100 %; data input x and output y are never sampled.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only 2 of 8 shift values declared as bins; x=0x00 corner never hit; lowest stimulus.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declared corner-pattern bins (0xA5, 0x5A) never organically hit by random; lowest score.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dedicated walking-1 covergroup crosses every single-bit input × every shift amount (64 bins, all closed) — gold-standard barrel-shifter test.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8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7 — Counter (4-bit Up/Down)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8" name="Google Shape;498;p28"/>
          <p:cNvGraphicFramePr/>
          <p:nvPr/>
        </p:nvGraphicFramePr>
        <p:xfrm>
          <a:off x="640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 (no covergroup)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99.31 %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12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 (1-2× each)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 (high density)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(no covergroup)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/ 20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/ 22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/ 14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 / 36 = 97.22 %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 / 24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3,840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1,368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499" name="Google Shape;499;p28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00" name="Google Shape;500;p28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01" name="Google Shape;501;p28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functional coverage subscriber commented out; 2 declared sequence-body asserts never executed (drag success rate to 66.67 %).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brute-force enumeration of all 16 dout values — captures no verification intent; WRAP_UP / WRAP_DOWN fired only once each.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only TB with transition bins (15→0 wrap up, 0→15 wrap down) — most temporally-aware coverage model on this design.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separate boundary coverpoint (val_0 / val_1 / val_14 / val_15) + 3 crosses; highest cover-property match density (35× SYNC_RESET).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9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9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8 — Universal Shift Register (USR)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0" name="Google Shape;510;p29"/>
          <p:cNvGraphicFramePr/>
          <p:nvPr/>
        </p:nvGraphicFramePr>
        <p:xfrm>
          <a:off x="685867" y="15689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78.91 %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57.14 %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 (1 incomplete)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 (low density)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 (5–80× more)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/ 4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/ 72 = 25 %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13 = 75 %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 / 37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/ 28 = 3.57 %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 / 19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3,384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511" name="Google Shape;511;p29"/>
          <p:cNvSpPr/>
          <p:nvPr/>
        </p:nvSpPr>
        <p:spPr>
          <a:xfrm>
            <a:off x="685863" y="4531650"/>
            <a:ext cx="10972800" cy="19203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12" name="Google Shape;512;p29"/>
          <p:cNvSpPr/>
          <p:nvPr/>
        </p:nvSpPr>
        <p:spPr>
          <a:xfrm>
            <a:off x="685863" y="4531650"/>
            <a:ext cx="73200" cy="19203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13" name="Google Shape;513;p29"/>
          <p:cNvSpPr/>
          <p:nvPr/>
        </p:nvSpPr>
        <p:spPr>
          <a:xfrm>
            <a:off x="914468" y="4577371"/>
            <a:ext cx="1051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9"/>
          <p:cNvSpPr/>
          <p:nvPr/>
        </p:nvSpPr>
        <p:spPr>
          <a:xfrm>
            <a:off x="914457" y="4980800"/>
            <a:ext cx="108657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1 cp on cp_control — score is hollow; no clr / parallel_in / serial_in / output coverage.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64 auto-bins on parallel_in only 16 % closed; LOAD_THEN_HOLD fired only once.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corner-pattern parallel_in bins (0xAA, 0x55) declared but never hit organically; cross has element-holes for non-load × parallel_in (no ignore_bins).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only TB to use ignore_bins properly (excludes irrelevant control × serial_in pairings); dedicated 12-transition covergroup; output observability.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0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9 — FSM (Traffic Light Controller)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2" name="Google Shape;522;p30"/>
          <p:cNvGraphicFramePr/>
          <p:nvPr/>
        </p:nvGraphicFramePr>
        <p:xfrm>
          <a:off x="640055" y="1604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85.19 %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60.00 % main (100 % outputs)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10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11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10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10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6 hit (highest density)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/ 6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/ 10 = 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/ 16 (multi-CG)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/ 9 = 55.56 %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/ 7 = 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/ 48 = 22.92 %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539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523" name="Google Shape;523;p30"/>
          <p:cNvSpPr/>
          <p:nvPr/>
        </p:nvSpPr>
        <p:spPr>
          <a:xfrm>
            <a:off x="640075" y="4837175"/>
            <a:ext cx="10972800" cy="19023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4" name="Google Shape;524;p30"/>
          <p:cNvSpPr/>
          <p:nvPr/>
        </p:nvSpPr>
        <p:spPr>
          <a:xfrm>
            <a:off x="640077" y="4837175"/>
            <a:ext cx="73200" cy="18123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0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0"/>
          <p:cNvSpPr/>
          <p:nvPr/>
        </p:nvSpPr>
        <p:spPr>
          <a:xfrm>
            <a:off x="868675" y="5202922"/>
            <a:ext cx="105156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100 % on a 3-cp model with no cross — reset exercised only 2× (vs claude's 24×).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cross has 4 unreachable green/yellow × green/yellow combinations — no ignore_bins → score drops to 55.56 %.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total coverage failure due to TB wiring defect (analysis_port + clone() not delivering valid samples) — but assertions fire correctly.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only TB to verify entire FSM cycle as a single sequence (cp_full_cycle: s0 → s1 → s2 → s3 → s0); illegal=2'b11 bin to detect bad encodings.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1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1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10 — Sync FIFO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4" name="Google Shape;534;p31"/>
          <p:cNvGraphicFramePr/>
          <p:nvPr/>
        </p:nvGraphicFramePr>
        <p:xfrm>
          <a:off x="609580" y="1425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2429200"/>
                <a:gridCol w="1956200"/>
                <a:gridCol w="2962600"/>
                <a:gridCol w="170460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72.40 %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97.50 %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/ 13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13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/ 13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/ 13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/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/ 6 hit (NO_WRITE_WHEN_FULL=0)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/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/ 6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10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/ 68 = 22 %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 / 23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(no cross)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/ 18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 / 33 = 81.82 %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1,350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1,760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3,060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535" name="Google Shape;535;p31"/>
          <p:cNvSpPr/>
          <p:nvPr/>
        </p:nvSpPr>
        <p:spPr>
          <a:xfrm>
            <a:off x="609575" y="4387900"/>
            <a:ext cx="10972800" cy="20208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6" name="Google Shape;536;p31"/>
          <p:cNvSpPr/>
          <p:nvPr/>
        </p:nvSpPr>
        <p:spPr>
          <a:xfrm>
            <a:off x="609576" y="4387900"/>
            <a:ext cx="73200" cy="19383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7" name="Google Shape;537;p31"/>
          <p:cNvSpPr/>
          <p:nvPr/>
        </p:nvSpPr>
        <p:spPr>
          <a:xfrm>
            <a:off x="838180" y="4433621"/>
            <a:ext cx="1051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1"/>
          <p:cNvSpPr/>
          <p:nvPr/>
        </p:nvSpPr>
        <p:spPr>
          <a:xfrm>
            <a:off x="838175" y="4753647"/>
            <a:ext cx="105156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best stimulus on safety-critical guard-band corners — NO_WRITE_WHEN_FULL fired 33× (vs claude's 5×).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never drove FIFO into the write-when-full corner — that cover property has 0 matches.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declared ignore_bins on the very corner that should be covered (cross_rw_full / write_at_full) — coverage-model misjudgment.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only TB to cover internal count + both wr_data and rd_data; user-defined cross-bins (write_at_full / read_at_empty) explicitly target what gem31 ignored; illegal_bins on full+empty mutex.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2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2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11 — APB (APB3 Memory Slave)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6" name="Google Shape;546;p32"/>
          <p:cNvGraphicFramePr/>
          <p:nvPr/>
        </p:nvGraphicFramePr>
        <p:xfrm>
          <a:off x="640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40.62 %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97.78 %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/ 14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14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14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 / 29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7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/ 7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/ 7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7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 / 19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/ 68 = 10.29 %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9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/ 16 = 96 %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/ 4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128 = 6.25 %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10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/ 20 =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1,110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1,162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547" name="Google Shape;547;p32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48" name="Google Shape;548;p32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49" name="Google Shape;549;p32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2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only TB w/ back-to-back R/W transition cross (cx_b2b); strongest FSM-traversal stimulus (IDLE→SETUP 220×, ACCESS→IDLE 215×).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32-bit auto-bins on cp_addr (4/64 hit); 2 cover properties + 2 asserts entirely unexercised; only 20 attempts total.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clean paddr[5] validity model but FSM never exited ACCESS → IDLE (1 cover property + 1 assert unfired).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5 coverpoints incl. cp_wdata; 4 crosses with user-defined named bins AND illegal_bins for protocol invariants.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3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12 — Round-Robin Arbiter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8" name="Google Shape;558;p33"/>
          <p:cNvGraphicFramePr/>
          <p:nvPr/>
        </p:nvGraphicFramePr>
        <p:xfrm>
          <a:off x="640055" y="1339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(3 runs)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100.00 % (run-3)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21.74 %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88.39 %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92.45 %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passing (caught real fails)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pass rate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85.71 % (best LLM)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hit (1428×)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cover-props unfired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hit (281×)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 vars + 32 crosses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closure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 w/ illegal_bins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 cps incl. per-bit + cg_sva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 / 32 = 100 % w/ ignore_bins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low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ignore_bins on impossible pairs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ignore_bins on impossible pairs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1,497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559" name="Google Shape;559;p33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0" name="Google Shape;560;p33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1" name="Google Shape;561;p33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3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only TB with protocol-correct ignore_bins for all 14 physically impossible req-grant combinations; 3× the stimulus volume of any LLM TB.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catastrophic — 21.74 % coverage, only 9 stimulus attempts per assertion, 4 cover-props + 4 asserts completely unexercised.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shows protocol awareness (illegal_bins on cp_grant, 7-bin transition coverage) but cross-model gap drops to 88.39 %.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structurally richest model (per-bit coverage, auxiliary cg_sva_scenarios CG); first design where original sweeps all categories.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4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4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13 — AHB (AHB-Lite Memory Slave)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0" name="Google Shape;570;p34"/>
          <p:cNvGraphicFramePr/>
          <p:nvPr/>
        </p:nvGraphicFramePr>
        <p:xfrm>
          <a:off x="609430" y="13167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~87 %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91.67 %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78.72 %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/ 14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/ 19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/ 14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 / 36 passing (best %)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9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9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9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9 hit (16× err-paths)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~38 bins (3 CGs)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/ 10 = 80 %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10 ≈ 100 %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 bins (word_idx, alignment)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~33 cross 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cross 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cross 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cross 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 max / 720 sum (3 runs)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571" name="Google Shape;571;p34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72" name="Google Shape;572;p34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73" name="Google Shape;573;p34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only TB to cover HBURST (6 burst types) + HTRANS state-transition cross; extensive ignore_bins discipline.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never exercised IDLE/BUSY HTRANS or deselected slave; lowest stimulus.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compact size/write/trans/resp model; missing illegal_bins for err_sz × okay (impossible).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21 sequence-body asserts (highest success rate); 32-bin word_idx + 12-bin alignment (richest model).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5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Design 14 — AXI (AXI4 Memory Slave)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2" name="Google Shape;582;p35"/>
          <p:cNvGraphicFramePr/>
          <p:nvPr/>
        </p:nvGraphicFramePr>
        <p:xfrm>
          <a:off x="640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3291850"/>
                <a:gridCol w="1920250"/>
                <a:gridCol w="1920250"/>
                <a:gridCol w="192025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o4-mini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coverage score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~97.78 %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88.54 %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95.24 %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~86.16 %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SVA assertions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 / 29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 / 37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 / 33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/ 30 passing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properties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9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9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9 hit (BVALID 6476×)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/ 9 hit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Coverpoint variables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 bins (5 CGs)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bins ≈ 88.54 %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 bins ≈ 95.24 %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 bins ≈ 88 %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 coverage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~25 cross 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cross 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cross 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 cross bins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clock cycles / assert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1,023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7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6,509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1,036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</a:tbl>
          </a:graphicData>
        </a:graphic>
      </p:graphicFrame>
      <p:sp>
        <p:nvSpPr>
          <p:cNvPr id="583" name="Google Shape;583;p35"/>
          <p:cNvSpPr/>
          <p:nvPr/>
        </p:nvSpPr>
        <p:spPr>
          <a:xfrm>
            <a:off x="640080" y="4837176"/>
            <a:ext cx="10972800" cy="1563624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84" name="Google Shape;584;p35"/>
          <p:cNvSpPr/>
          <p:nvPr/>
        </p:nvSpPr>
        <p:spPr>
          <a:xfrm>
            <a:off x="640080" y="4837176"/>
            <a:ext cx="73152" cy="156362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85" name="Google Shape;585;p35"/>
          <p:cNvSpPr/>
          <p:nvPr/>
        </p:nvSpPr>
        <p:spPr>
          <a:xfrm>
            <a:off x="86868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Georg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5"/>
          <p:cNvSpPr/>
          <p:nvPr/>
        </p:nvSpPr>
        <p:spPr>
          <a:xfrm>
            <a:off x="868680" y="5202936"/>
            <a:ext cx="1051560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Original: only TB w/ per-channel coverage + dedicated cg_protocol_errors covergroup; ignore_bins for byte-error impossibilities.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o4-mini: has ignore_bins discipline (fixed_unused, ig_rsvd_size); size_2B never driven.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Gemini 3.1: highest stimulus volume by far (BVALID_ONLY_RESP fired 6,476×).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Claude: 13 coverpoints across 3 CGs; 20 missed cross-bins are reserved-burst impossibilities (needed illegal_bins).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6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6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Coverage —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4" name="Google Shape;594;p36"/>
          <p:cNvGraphicFramePr/>
          <p:nvPr/>
        </p:nvGraphicFramePr>
        <p:xfrm>
          <a:off x="609592" y="1350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{2994CABA-E51B-465C-B92F-6FEB43748C18}</a:tableStyleId>
              </a:tblPr>
              <a:tblGrid>
                <a:gridCol w="2011675"/>
                <a:gridCol w="2377450"/>
                <a:gridCol w="3291850"/>
                <a:gridCol w="32918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by score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from a testing point of view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assertion coverage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Mux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tied: orig / mini / 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Decoder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(close to Original)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(organic)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Comparator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(24K attempts)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ALU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(hollow)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Barrel shifter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(hollow)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tied: mini / 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(transition bins)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tied: orig / 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FSM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(full-cycle seq.)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Sync FIFO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tied: orig / gem31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(corner stimulus)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APB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tied: orig / gem31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(FSM transitions)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Arbiter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(3 runs)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AHB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B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AXI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E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0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0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0"/>
          <p:cNvSpPr/>
          <p:nvPr/>
        </p:nvSpPr>
        <p:spPr>
          <a:xfrm>
            <a:off x="640080" y="1600200"/>
            <a:ext cx="11887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0"/>
          <p:cNvSpPr/>
          <p:nvPr/>
        </p:nvSpPr>
        <p:spPr>
          <a:xfrm>
            <a:off x="640080" y="160020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0"/>
          <p:cNvSpPr/>
          <p:nvPr/>
        </p:nvSpPr>
        <p:spPr>
          <a:xfrm>
            <a:off x="1965960" y="1600200"/>
            <a:ext cx="9646920" cy="9144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05" name="Google Shape;605;p40"/>
          <p:cNvSpPr/>
          <p:nvPr/>
        </p:nvSpPr>
        <p:spPr>
          <a:xfrm>
            <a:off x="2148840" y="1691640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Skeleton-based prompt engineering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0"/>
          <p:cNvSpPr/>
          <p:nvPr/>
        </p:nvSpPr>
        <p:spPr>
          <a:xfrm>
            <a:off x="2148840" y="201168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Provide a worked-out UVM testbench skeleton in the prompt (with all 11 sections stubbed and TLM hookups pre-wired). Expected to close most of the Category-A bucket — measurable on the same benchmark.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0"/>
          <p:cNvSpPr/>
          <p:nvPr/>
        </p:nvSpPr>
        <p:spPr>
          <a:xfrm>
            <a:off x="640080" y="2569464"/>
            <a:ext cx="118872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0"/>
          <p:cNvSpPr/>
          <p:nvPr/>
        </p:nvSpPr>
        <p:spPr>
          <a:xfrm>
            <a:off x="640080" y="2569464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0"/>
          <p:cNvSpPr/>
          <p:nvPr/>
        </p:nvSpPr>
        <p:spPr>
          <a:xfrm>
            <a:off x="1965960" y="2569464"/>
            <a:ext cx="9646920" cy="9144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0" name="Google Shape;610;p40"/>
          <p:cNvSpPr/>
          <p:nvPr/>
        </p:nvSpPr>
        <p:spPr>
          <a:xfrm>
            <a:off x="2148840" y="2660904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Coverage-driven feedback loops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0"/>
          <p:cNvSpPr/>
          <p:nvPr/>
        </p:nvSpPr>
        <p:spPr>
          <a:xfrm>
            <a:off x="2148840" y="2980944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Pass functional and assertion coverage reports back into the LLM and ask for new sequences to close uncovered bins. Already prototyped on AHB and Arbiter (Pass 2 and 3 in the weekly updates).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0"/>
          <p:cNvSpPr/>
          <p:nvPr/>
        </p:nvSpPr>
        <p:spPr>
          <a:xfrm>
            <a:off x="640080" y="3538728"/>
            <a:ext cx="11886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0"/>
          <p:cNvSpPr/>
          <p:nvPr/>
        </p:nvSpPr>
        <p:spPr>
          <a:xfrm>
            <a:off x="640080" y="3538728"/>
            <a:ext cx="118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0"/>
          <p:cNvSpPr/>
          <p:nvPr/>
        </p:nvSpPr>
        <p:spPr>
          <a:xfrm>
            <a:off x="1965960" y="3538728"/>
            <a:ext cx="9646800" cy="9144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5" name="Google Shape;615;p40"/>
          <p:cNvSpPr/>
          <p:nvPr/>
        </p:nvSpPr>
        <p:spPr>
          <a:xfrm>
            <a:off x="2148840" y="3630168"/>
            <a:ext cx="9327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Integration with LLM4Assertions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0"/>
          <p:cNvSpPr/>
          <p:nvPr/>
        </p:nvSpPr>
        <p:spPr>
          <a:xfrm>
            <a:off x="2148840" y="3950208"/>
            <a:ext cx="932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Combine TB generation with LLM-generated bound SVAs. The current evaluation uses a fixed assertion set per DUT — letting the LLM propose the assertions opens a new, higher-stakes question.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0"/>
          <p:cNvSpPr/>
          <p:nvPr/>
        </p:nvSpPr>
        <p:spPr>
          <a:xfrm>
            <a:off x="640080" y="4507992"/>
            <a:ext cx="11886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0"/>
          <p:cNvSpPr/>
          <p:nvPr/>
        </p:nvSpPr>
        <p:spPr>
          <a:xfrm>
            <a:off x="640080" y="4507992"/>
            <a:ext cx="118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0"/>
          <p:cNvSpPr/>
          <p:nvPr/>
        </p:nvSpPr>
        <p:spPr>
          <a:xfrm>
            <a:off x="1965960" y="4507992"/>
            <a:ext cx="9646800" cy="914400"/>
          </a:xfrm>
          <a:prstGeom prst="rect">
            <a:avLst/>
          </a:prstGeom>
          <a:solidFill>
            <a:srgbClr val="E4ECF7"/>
          </a:solidFill>
          <a:ln cap="flat" cmpd="sng" w="127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20" name="Google Shape;620;p40"/>
          <p:cNvSpPr/>
          <p:nvPr/>
        </p:nvSpPr>
        <p:spPr>
          <a:xfrm>
            <a:off x="2148840" y="4599432"/>
            <a:ext cx="9327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Localized Training of LLMs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0"/>
          <p:cNvSpPr/>
          <p:nvPr/>
        </p:nvSpPr>
        <p:spPr>
          <a:xfrm>
            <a:off x="2148840" y="4919472"/>
            <a:ext cx="932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Provide  industry-level UVM Testbenches to locally train the LLM conversation before prompting the spec-based UVM testbench generation. Example: Opentitan Testbench Repository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8"/>
          <p:cNvSpPr/>
          <p:nvPr/>
        </p:nvSpPr>
        <p:spPr>
          <a:xfrm>
            <a:off x="457200" y="457200"/>
            <a:ext cx="146304" cy="640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8"/>
          <p:cNvSpPr/>
          <p:nvPr/>
        </p:nvSpPr>
        <p:spPr>
          <a:xfrm>
            <a:off x="731520" y="384048"/>
            <a:ext cx="11002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8"/>
          <p:cNvSpPr/>
          <p:nvPr/>
        </p:nvSpPr>
        <p:spPr>
          <a:xfrm>
            <a:off x="1021000" y="1388663"/>
            <a:ext cx="10149900" cy="807900"/>
          </a:xfrm>
          <a:prstGeom prst="rect">
            <a:avLst/>
          </a:prstGeom>
          <a:solidFill>
            <a:srgbClr val="E4ECF7"/>
          </a:solidFill>
          <a:ln cap="flat" cmpd="sng" w="9325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75" lIns="67075" spcFirstLastPara="1" rIns="67075" wrap="square" tIns="67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sp>
        <p:nvSpPr>
          <p:cNvPr id="630" name="Google Shape;630;p38"/>
          <p:cNvSpPr/>
          <p:nvPr/>
        </p:nvSpPr>
        <p:spPr>
          <a:xfrm>
            <a:off x="1021004" y="1388663"/>
            <a:ext cx="66900" cy="807900"/>
          </a:xfrm>
          <a:prstGeom prst="rect">
            <a:avLst/>
          </a:prstGeom>
          <a:solidFill>
            <a:srgbClr val="1E2761"/>
          </a:solidFill>
          <a:ln cap="flat" cmpd="sng" w="93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75" lIns="67075" spcFirstLastPara="1" rIns="67075" wrap="square" tIns="67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1" name="Google Shape;631;p38"/>
          <p:cNvSpPr/>
          <p:nvPr/>
        </p:nvSpPr>
        <p:spPr>
          <a:xfrm>
            <a:off x="1188714" y="1522816"/>
            <a:ext cx="976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74"/>
              <a:buFont typeface="Georgia"/>
              <a:buNone/>
            </a:pPr>
            <a:r>
              <a:rPr b="1" i="0" lang="en-US" sz="1574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LLMs are good first drafts </a:t>
            </a:r>
            <a:r>
              <a:rPr b="1" lang="en-US" sz="1574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b="1" lang="en-US" sz="1574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ut none compile cleanly - improving the prompt and localizing training would provide a much more dependable starting point</a:t>
            </a:r>
            <a:endParaRPr b="0" i="0" sz="15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1021000" y="2363606"/>
            <a:ext cx="10149900" cy="972600"/>
          </a:xfrm>
          <a:prstGeom prst="rect">
            <a:avLst/>
          </a:prstGeom>
          <a:solidFill>
            <a:srgbClr val="E4ECF7"/>
          </a:solidFill>
          <a:ln cap="flat" cmpd="sng" w="9325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75" lIns="67075" spcFirstLastPara="1" rIns="67075" wrap="square" tIns="67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sp>
        <p:nvSpPr>
          <p:cNvPr id="633" name="Google Shape;633;p38"/>
          <p:cNvSpPr/>
          <p:nvPr/>
        </p:nvSpPr>
        <p:spPr>
          <a:xfrm>
            <a:off x="1021005" y="2363610"/>
            <a:ext cx="66900" cy="972600"/>
          </a:xfrm>
          <a:prstGeom prst="rect">
            <a:avLst/>
          </a:prstGeom>
          <a:solidFill>
            <a:srgbClr val="1E2761"/>
          </a:solidFill>
          <a:ln cap="flat" cmpd="sng" w="93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75" lIns="67075" spcFirstLastPara="1" rIns="67075" wrap="square" tIns="67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4" name="Google Shape;634;p38"/>
          <p:cNvSpPr/>
          <p:nvPr/>
        </p:nvSpPr>
        <p:spPr>
          <a:xfrm>
            <a:off x="1188714" y="2497760"/>
            <a:ext cx="976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74"/>
              <a:buFont typeface="Georgia"/>
              <a:buNone/>
            </a:pPr>
            <a:r>
              <a:rPr b="1" i="0" lang="en-US" sz="1574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Coverage models are surprisingly thoughtful</a:t>
            </a:r>
            <a:r>
              <a:rPr b="1" lang="en-US" sz="1574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- LLMs can analyze testbenches and specification to suggest more comprehensive crosses and assertions. Valuable for a novice verification engineer in terms of learning curves</a:t>
            </a:r>
            <a:endParaRPr b="0" i="0" sz="15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8"/>
          <p:cNvSpPr/>
          <p:nvPr/>
        </p:nvSpPr>
        <p:spPr>
          <a:xfrm>
            <a:off x="1063150" y="3489251"/>
            <a:ext cx="842400" cy="792000"/>
          </a:xfrm>
          <a:prstGeom prst="rect">
            <a:avLst/>
          </a:prstGeom>
          <a:solidFill>
            <a:srgbClr val="1E2761"/>
          </a:solidFill>
          <a:ln cap="flat" cmpd="sng" w="112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575" lIns="80575" spcFirstLastPara="1" rIns="80575" wrap="square" tIns="8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6" name="Google Shape;636;p38"/>
          <p:cNvSpPr/>
          <p:nvPr/>
        </p:nvSpPr>
        <p:spPr>
          <a:xfrm>
            <a:off x="1063143" y="3529537"/>
            <a:ext cx="8424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7"/>
              <a:buFont typeface="Georgia"/>
              <a:buNone/>
            </a:pPr>
            <a:r>
              <a:rPr b="1" i="0" lang="en-US" sz="1987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1st</a:t>
            </a:r>
            <a:endParaRPr b="0" i="0" sz="1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8"/>
          <p:cNvSpPr/>
          <p:nvPr/>
        </p:nvSpPr>
        <p:spPr>
          <a:xfrm>
            <a:off x="1063150" y="3893248"/>
            <a:ext cx="8424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3"/>
              <a:buFont typeface="Calibri"/>
              <a:buNone/>
            </a:pPr>
            <a:r>
              <a:rPr b="0" i="1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Opus 4.6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2031799" y="3489251"/>
            <a:ext cx="9139200" cy="792000"/>
          </a:xfrm>
          <a:prstGeom prst="rect">
            <a:avLst/>
          </a:prstGeom>
          <a:solidFill>
            <a:srgbClr val="E4ECF7"/>
          </a:solidFill>
          <a:ln cap="flat" cmpd="sng" w="112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575" lIns="80575" spcFirstLastPara="1" rIns="80575" wrap="square" tIns="8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9" name="Google Shape;639;p38"/>
          <p:cNvSpPr/>
          <p:nvPr/>
        </p:nvSpPr>
        <p:spPr>
          <a:xfrm>
            <a:off x="2200260" y="3570050"/>
            <a:ext cx="8844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6E"/>
              </a:buClr>
              <a:buSzPts val="926"/>
              <a:buFont typeface="Calibri"/>
              <a:buNone/>
            </a:pPr>
            <a:r>
              <a:rPr b="1" i="0" lang="en-US" sz="1526" u="none" cap="none" strike="noStrike">
                <a:solidFill>
                  <a:srgbClr val="0E8A6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i="0" lang="en-US" sz="1526" u="none" cap="none" strike="noStrike">
                <a:solidFill>
                  <a:srgbClr val="0E8A6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26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52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ichest covergroups (output observability, transitions, illegal_bins) · highest stimulus density on most designs </a:t>
            </a:r>
            <a:endParaRPr b="0" i="0" sz="14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8"/>
          <p:cNvSpPr/>
          <p:nvPr/>
        </p:nvSpPr>
        <p:spPr>
          <a:xfrm>
            <a:off x="1016400" y="5612076"/>
            <a:ext cx="842400" cy="953400"/>
          </a:xfrm>
          <a:prstGeom prst="rect">
            <a:avLst/>
          </a:prstGeom>
          <a:solidFill>
            <a:srgbClr val="2A6FB8"/>
          </a:solidFill>
          <a:ln cap="flat" cmpd="sng" w="11200">
            <a:solidFill>
              <a:srgbClr val="2A6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575" lIns="80575" spcFirstLastPara="1" rIns="80575" wrap="square" tIns="8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1" name="Google Shape;641;p38"/>
          <p:cNvSpPr/>
          <p:nvPr/>
        </p:nvSpPr>
        <p:spPr>
          <a:xfrm>
            <a:off x="1016400" y="5652370"/>
            <a:ext cx="8424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7"/>
              <a:buFont typeface="Georgia"/>
              <a:buNone/>
            </a:pPr>
            <a:r>
              <a:rPr b="1" lang="en-US" sz="1987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i="0" lang="en-US" sz="1987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nd</a:t>
            </a:r>
            <a:endParaRPr b="0" i="0" sz="1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1016400" y="6098433"/>
            <a:ext cx="842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3"/>
              <a:buFont typeface="Calibri"/>
              <a:buNone/>
            </a:pPr>
            <a:r>
              <a:rPr b="0" i="1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o4-mini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8"/>
          <p:cNvSpPr/>
          <p:nvPr/>
        </p:nvSpPr>
        <p:spPr>
          <a:xfrm>
            <a:off x="1985049" y="5612076"/>
            <a:ext cx="9139200" cy="953400"/>
          </a:xfrm>
          <a:prstGeom prst="rect">
            <a:avLst/>
          </a:prstGeom>
          <a:solidFill>
            <a:srgbClr val="E4ECF7"/>
          </a:solidFill>
          <a:ln cap="flat" cmpd="sng" w="112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575" lIns="80575" spcFirstLastPara="1" rIns="80575" wrap="square" tIns="8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4" name="Google Shape;644;p38"/>
          <p:cNvSpPr/>
          <p:nvPr/>
        </p:nvSpPr>
        <p:spPr>
          <a:xfrm>
            <a:off x="2153510" y="5709348"/>
            <a:ext cx="88440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6E"/>
              </a:buClr>
              <a:buSzPts val="926"/>
              <a:buFont typeface="Calibri"/>
              <a:buNone/>
            </a:pPr>
            <a:r>
              <a:rPr b="1" i="0" lang="en-US" sz="1326" u="none" cap="none" strike="noStrike">
                <a:solidFill>
                  <a:srgbClr val="0E8A6E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326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32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uch faster + cheaper </a:t>
            </a:r>
            <a:endParaRPr b="0" i="0" sz="1326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A6E"/>
              </a:buClr>
              <a:buSzPts val="926"/>
              <a:buFont typeface="Calibri"/>
              <a:buNone/>
            </a:pPr>
            <a:r>
              <a:rPr b="1" lang="en-US" sz="1326">
                <a:solidFill>
                  <a:srgbClr val="0E8A6E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326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32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cceptable coverage on simple designs.</a:t>
            </a:r>
            <a:endParaRPr b="0" i="0" sz="13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926"/>
              <a:buFont typeface="Calibri"/>
              <a:buNone/>
            </a:pPr>
            <a:r>
              <a:rPr b="1" i="0" lang="en-US" sz="1326" u="none" cap="none" strike="noStrike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1326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32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timulus density 10–100× below Claude · </a:t>
            </a:r>
            <a:endParaRPr b="0" i="0" sz="1326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926"/>
              <a:buFont typeface="Calibri"/>
              <a:buNone/>
            </a:pPr>
            <a:r>
              <a:rPr b="1" lang="en-US" sz="1326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1326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32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issing critical corner stimulus.</a:t>
            </a:r>
            <a:endParaRPr b="0" i="0" sz="13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8"/>
          <p:cNvSpPr/>
          <p:nvPr/>
        </p:nvSpPr>
        <p:spPr>
          <a:xfrm>
            <a:off x="1042075" y="4497026"/>
            <a:ext cx="842400" cy="934500"/>
          </a:xfrm>
          <a:prstGeom prst="rect">
            <a:avLst/>
          </a:prstGeom>
          <a:solidFill>
            <a:srgbClr val="2A6FB8"/>
          </a:solidFill>
          <a:ln cap="flat" cmpd="sng" w="11200">
            <a:solidFill>
              <a:srgbClr val="2A6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575" lIns="80575" spcFirstLastPara="1" rIns="80575" wrap="square" tIns="8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6" name="Google Shape;646;p38"/>
          <p:cNvSpPr/>
          <p:nvPr/>
        </p:nvSpPr>
        <p:spPr>
          <a:xfrm>
            <a:off x="1049075" y="4471852"/>
            <a:ext cx="8424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7"/>
              <a:buFont typeface="Georgia"/>
              <a:buNone/>
            </a:pPr>
            <a:r>
              <a:rPr b="1" lang="en-US" sz="1987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i="0" lang="en-US" sz="1987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rd</a:t>
            </a:r>
            <a:endParaRPr b="0" i="0" sz="1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8"/>
          <p:cNvSpPr/>
          <p:nvPr/>
        </p:nvSpPr>
        <p:spPr>
          <a:xfrm>
            <a:off x="1042075" y="4973781"/>
            <a:ext cx="8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93"/>
              <a:buFont typeface="Calibri"/>
              <a:buNone/>
            </a:pPr>
            <a:r>
              <a:rPr i="1" lang="en-US" sz="119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Gemini Pro 3.1</a:t>
            </a:r>
            <a:endParaRPr i="1" sz="119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8"/>
          <p:cNvSpPr/>
          <p:nvPr/>
        </p:nvSpPr>
        <p:spPr>
          <a:xfrm>
            <a:off x="2010724" y="4497026"/>
            <a:ext cx="9139200" cy="934500"/>
          </a:xfrm>
          <a:prstGeom prst="rect">
            <a:avLst/>
          </a:prstGeom>
          <a:solidFill>
            <a:srgbClr val="E4ECF7"/>
          </a:solidFill>
          <a:ln cap="flat" cmpd="sng" w="11200">
            <a:solidFill>
              <a:srgbClr val="C7C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575" lIns="80575" spcFirstLastPara="1" rIns="80575" wrap="square" tIns="8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9" name="Google Shape;649;p38"/>
          <p:cNvSpPr/>
          <p:nvPr/>
        </p:nvSpPr>
        <p:spPr>
          <a:xfrm>
            <a:off x="2179185" y="4592377"/>
            <a:ext cx="8844000" cy="7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8A6E"/>
              </a:buClr>
              <a:buSzPts val="926"/>
              <a:buFont typeface="Calibri"/>
              <a:buNone/>
            </a:pPr>
            <a:r>
              <a:rPr b="1" lang="en-US" sz="1526">
                <a:solidFill>
                  <a:srgbClr val="0E8A6E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526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Good when it works (compact, occasionally protocol-aware coverage models).</a:t>
            </a:r>
            <a:endParaRPr sz="15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926"/>
              <a:buFont typeface="Calibri"/>
              <a:buNone/>
            </a:pPr>
            <a:r>
              <a:rPr b="1" lang="en-US" sz="1526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1526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29 % structural pass </a:t>
            </a:r>
            <a:endParaRPr sz="1526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926"/>
              <a:buFont typeface="Calibri"/>
              <a:buNone/>
            </a:pPr>
            <a:r>
              <a:rPr b="1" lang="en-US" sz="1526">
                <a:solidFill>
                  <a:srgbClr val="B23232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1526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Scoreboard model defects </a:t>
            </a:r>
            <a:endParaRPr sz="15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232"/>
              </a:buClr>
              <a:buSzPts val="926"/>
              <a:buFont typeface="Calibri"/>
              <a:buNone/>
            </a:pPr>
            <a:r>
              <a:t/>
            </a:r>
            <a:endParaRPr b="1" sz="1326">
              <a:solidFill>
                <a:srgbClr val="0E8A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1"/>
          <p:cNvSpPr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6" name="Google Shape;656;p41"/>
          <p:cNvCxnSpPr/>
          <p:nvPr/>
        </p:nvCxnSpPr>
        <p:spPr>
          <a:xfrm>
            <a:off x="914400" y="3931920"/>
            <a:ext cx="1463040" cy="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41"/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Georgia"/>
              <a:buNone/>
            </a:pPr>
            <a:r>
              <a:rPr b="0" i="1" lang="en-US" sz="2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2026-05-07T00:36:13Z</dcterms:created>
  <dc:creator>Archie Gupta</dc:creator>
</cp:coreProperties>
</file>